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 id="2147483673" r:id="rId2"/>
  </p:sldMasterIdLst>
  <p:notesMasterIdLst>
    <p:notesMasterId r:id="rId37"/>
  </p:notesMasterIdLst>
  <p:sldIdLst>
    <p:sldId id="256" r:id="rId3"/>
    <p:sldId id="289" r:id="rId4"/>
    <p:sldId id="257" r:id="rId5"/>
    <p:sldId id="258" r:id="rId6"/>
    <p:sldId id="259" r:id="rId7"/>
    <p:sldId id="260" r:id="rId8"/>
    <p:sldId id="287" r:id="rId9"/>
    <p:sldId id="261" r:id="rId10"/>
    <p:sldId id="262" r:id="rId11"/>
    <p:sldId id="263" r:id="rId12"/>
    <p:sldId id="264" r:id="rId13"/>
    <p:sldId id="268" r:id="rId14"/>
    <p:sldId id="265" r:id="rId15"/>
    <p:sldId id="266" r:id="rId16"/>
    <p:sldId id="267" r:id="rId17"/>
    <p:sldId id="288" r:id="rId18"/>
    <p:sldId id="269" r:id="rId19"/>
    <p:sldId id="270" r:id="rId20"/>
    <p:sldId id="271" r:id="rId21"/>
    <p:sldId id="276" r:id="rId22"/>
    <p:sldId id="272" r:id="rId23"/>
    <p:sldId id="273" r:id="rId24"/>
    <p:sldId id="274" r:id="rId25"/>
    <p:sldId id="275" r:id="rId26"/>
    <p:sldId id="277" r:id="rId27"/>
    <p:sldId id="278" r:id="rId28"/>
    <p:sldId id="279" r:id="rId29"/>
    <p:sldId id="280" r:id="rId30"/>
    <p:sldId id="281" r:id="rId31"/>
    <p:sldId id="282" r:id="rId32"/>
    <p:sldId id="283" r:id="rId33"/>
    <p:sldId id="284" r:id="rId34"/>
    <p:sldId id="285" r:id="rId35"/>
    <p:sldId id="286" r:id="rId3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59223A-678F-45C3-97FB-D095840F3F83}">
  <a:tblStyle styleId="{6059223A-678F-45C3-97FB-D095840F3F83}"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370"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d29e2a17e7_2_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g3d29e2a17e7_2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d29e2a17e7_2_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3d29e2a17e7_2_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d29e2a17e7_2_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3d29e2a17e7_2_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d29e2a17e7_2_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d29e2a17e7_2_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d29e2a17e7_2_9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d29e2a17e7_2_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g3d29e2a17e7_2_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g3d29e2a17e7_2_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d29e2a17e7_2_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d29e2a17e7_2_1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3d29e2a17e7_2_1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d29e2a17e7_2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3d29e2a17e7_2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g3d29e2a17e7_2_1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d29e2a17e7_2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3d29e2a17e7_2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3d29e2a17e7_2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d29e2a17e7_2_1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g3d29e2a17e7_2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3d29e2a17e7_2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d29e2a17e7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g3d29e2a17e7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g3d29e2a17e7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29e2a17e7_2_1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g3d29e2a17e7_2_1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3d29e2a17e7_2_1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dca7c877b1_2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g3dca7c877b1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g3dca7c877b1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14</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dca7c877b1_2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dca7c877b1_2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dc743c6116_0_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g3dc743c611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dc743c6116_0_1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g3dc743c6116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dc743c6116_0_2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dc743c6116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dc8a08424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7" name="Google Shape;277;g3dc8a08424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d29e2a17e7_0_6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 name="Google Shape;248;g3d29e2a17e7_0_6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d29e2a17e7_0_7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g3d29e2a17e7_0_7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d29e2a17e7_0_8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g3d29e2a17e7_0_8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dca6a8d978_1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g3dca6a8d978_1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dc8a084242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g3dc8a084242_0_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d29e2a17e7_2_2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3d29e2a17e7_2_2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3d29e2a17e7_2_2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26</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d29e2a17e7_2_2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d29e2a17e7_2_22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g3d29e2a17e7_2_2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200"/>
              <a:buFont typeface="Arial"/>
              <a:buNone/>
            </a:pPr>
            <a:fld id="{00000000-1234-1234-1234-123412341234}" type="slidenum">
              <a:rPr lang="en"/>
              <a:t>27</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d29e2a17e7_2_2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d29e2a17e7_2_23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g3d29e2a17e7_2_2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200"/>
              <a:buFont typeface="Arial"/>
              <a:buNone/>
            </a:pPr>
            <a:fld id="{00000000-1234-1234-1234-123412341234}" type="slidenum">
              <a:rPr lang="en"/>
              <a:t>28</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d29e2a17e7_2_2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d29e2a17e7_2_28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g3d29e2a17e7_2_2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29</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d29e2a17e7_2_2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d29e2a17e7_2_29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g3d29e2a17e7_2_2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200"/>
              <a:buFont typeface="Arial"/>
              <a:buNone/>
            </a:pPr>
            <a:fld id="{00000000-1234-1234-1234-123412341234}" type="slidenum">
              <a:rPr lang="en"/>
              <a:t>30</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d29e2a17e7_2_3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g3d29e2a17e7_2_3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g3d29e2a17e7_2_3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31</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d29e2a17e7_2_3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d29e2a17e7_2_32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g3d29e2a17e7_2_3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200"/>
              <a:buFont typeface="Arial"/>
              <a:buNone/>
            </a:pPr>
            <a:fld id="{00000000-1234-1234-1234-123412341234}" type="slidenum">
              <a:rPr lang="en"/>
              <a:t>32</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d29e2a17e7_2_3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g3d29e2a17e7_2_3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g3d29e2a17e7_2_3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
              <a:t>33</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d29e2a17e7_2_3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g3d29e2a17e7_2_3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4"/>
          <p:cNvSpPr txBox="1">
            <a:spLocks noGrp="1"/>
          </p:cNvSpPr>
          <p:nvPr>
            <p:ph type="ctrTitle"/>
          </p:nvPr>
        </p:nvSpPr>
        <p:spPr>
          <a:xfrm>
            <a:off x="1585452" y="1718186"/>
            <a:ext cx="7005484" cy="1496963"/>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ctr" anchorCtr="0">
            <a:normAutofit/>
          </a:bodyPr>
          <a:lstStyle>
            <a:lvl1pPr lvl="0" algn="r">
              <a:lnSpc>
                <a:spcPct val="10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4"/>
          <p:cNvSpPr txBox="1">
            <a:spLocks noGrp="1"/>
          </p:cNvSpPr>
          <p:nvPr>
            <p:ph type="subTitle" idx="1"/>
          </p:nvPr>
        </p:nvSpPr>
        <p:spPr>
          <a:xfrm>
            <a:off x="1216742" y="870156"/>
            <a:ext cx="7382308" cy="678426"/>
          </a:xfrm>
          <a:prstGeom prst="rect">
            <a:avLst/>
          </a:prstGeom>
          <a:noFill/>
          <a:ln>
            <a:noFill/>
          </a:ln>
        </p:spPr>
        <p:txBody>
          <a:bodyPr spcFirstLastPara="1" wrap="square" lIns="91425" tIns="45700" rIns="91425" bIns="45700" anchor="t" anchorCtr="0">
            <a:normAutofit/>
          </a:bodyPr>
          <a:lstStyle>
            <a:lvl1pPr lvl="0" algn="r">
              <a:lnSpc>
                <a:spcPct val="100000"/>
              </a:lnSpc>
              <a:spcBef>
                <a:spcPts val="560"/>
              </a:spcBef>
              <a:spcAft>
                <a:spcPts val="0"/>
              </a:spcAft>
              <a:buClr>
                <a:srgbClr val="0070C0"/>
              </a:buClr>
              <a:buSzPts val="2800"/>
              <a:buNone/>
              <a:defRPr sz="2800" b="0" i="0">
                <a:solidFill>
                  <a:srgbClr val="0070C0"/>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60" name="Google Shape;60;p1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464573" y="290705"/>
            <a:ext cx="8259098" cy="763526"/>
          </a:xfrm>
          <a:prstGeom prst="rect">
            <a:avLst/>
          </a:prstGeom>
          <a:noFill/>
          <a:ln>
            <a:noFill/>
          </a:ln>
        </p:spPr>
        <p:txBody>
          <a:bodyPr spcFirstLastPara="1" wrap="square" lIns="91425" tIns="45700" rIns="91425" bIns="45700" anchor="ctr" anchorCtr="0">
            <a:normAutofit/>
          </a:bodyPr>
          <a:lstStyle>
            <a:lvl1pPr lvl="0" algn="r">
              <a:lnSpc>
                <a:spcPct val="10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5"/>
          <p:cNvSpPr txBox="1">
            <a:spLocks noGrp="1"/>
          </p:cNvSpPr>
          <p:nvPr>
            <p:ph type="body" idx="1"/>
          </p:nvPr>
        </p:nvSpPr>
        <p:spPr>
          <a:xfrm>
            <a:off x="463714" y="1334728"/>
            <a:ext cx="8246070" cy="3443747"/>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solidFill>
                  <a:schemeClr val="dk1"/>
                </a:solidFill>
              </a:defRPr>
            </a:lvl1pPr>
            <a:lvl2pPr marL="914400" lvl="1" indent="-406400" algn="l">
              <a:lnSpc>
                <a:spcPct val="100000"/>
              </a:lnSpc>
              <a:spcBef>
                <a:spcPts val="560"/>
              </a:spcBef>
              <a:spcAft>
                <a:spcPts val="0"/>
              </a:spcAft>
              <a:buClr>
                <a:schemeClr val="dk1"/>
              </a:buClr>
              <a:buSzPts val="2800"/>
              <a:buChar char="–"/>
              <a:defRPr>
                <a:solidFill>
                  <a:schemeClr val="dk1"/>
                </a:solidFill>
              </a:defRPr>
            </a:lvl2pPr>
            <a:lvl3pPr marL="1371600" lvl="2" indent="-381000" algn="l">
              <a:lnSpc>
                <a:spcPct val="100000"/>
              </a:lnSpc>
              <a:spcBef>
                <a:spcPts val="480"/>
              </a:spcBef>
              <a:spcAft>
                <a:spcPts val="0"/>
              </a:spcAft>
              <a:buClr>
                <a:schemeClr val="dk1"/>
              </a:buClr>
              <a:buSzPts val="2400"/>
              <a:buChar char="•"/>
              <a:defRPr>
                <a:solidFill>
                  <a:schemeClr val="dk1"/>
                </a:solidFill>
              </a:defRPr>
            </a:lvl3pPr>
            <a:lvl4pPr marL="1828800" lvl="3" indent="-355600" algn="l">
              <a:lnSpc>
                <a:spcPct val="100000"/>
              </a:lnSpc>
              <a:spcBef>
                <a:spcPts val="400"/>
              </a:spcBef>
              <a:spcAft>
                <a:spcPts val="0"/>
              </a:spcAft>
              <a:buClr>
                <a:schemeClr val="dk1"/>
              </a:buClr>
              <a:buSzPts val="2000"/>
              <a:buChar char="–"/>
              <a:defRPr>
                <a:solidFill>
                  <a:schemeClr val="dk1"/>
                </a:solidFill>
              </a:defRPr>
            </a:lvl4pPr>
            <a:lvl5pPr marL="2286000" lvl="4" indent="-355600" algn="l">
              <a:lnSpc>
                <a:spcPct val="100000"/>
              </a:lnSpc>
              <a:spcBef>
                <a:spcPts val="400"/>
              </a:spcBef>
              <a:spcAft>
                <a:spcPts val="0"/>
              </a:spcAft>
              <a:buClr>
                <a:schemeClr val="dk1"/>
              </a:buClr>
              <a:buSzPts val="2000"/>
              <a:buChar char="»"/>
              <a:defRPr>
                <a:solidFill>
                  <a:schemeClr val="dk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6" name="Google Shape;66;p1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bg>
      <p:bgPr>
        <a:blipFill>
          <a:blip r:embed="rId2">
            <a:alphaModFix/>
          </a:blip>
          <a:stretch>
            <a:fillRect/>
          </a:stretch>
        </a:blipFill>
        <a:effectLst/>
      </p:bgPr>
    </p:bg>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476818" y="318046"/>
            <a:ext cx="6827643" cy="725349"/>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0070C0"/>
              </a:buClr>
              <a:buSzPts val="3600"/>
              <a:buFont typeface="Calibri"/>
              <a:buNone/>
              <a:defRPr sz="36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6"/>
          <p:cNvSpPr txBox="1">
            <a:spLocks noGrp="1"/>
          </p:cNvSpPr>
          <p:nvPr>
            <p:ph type="body" idx="1"/>
          </p:nvPr>
        </p:nvSpPr>
        <p:spPr>
          <a:xfrm>
            <a:off x="471948" y="1069258"/>
            <a:ext cx="6850625" cy="3619239"/>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solidFill>
                  <a:schemeClr val="dk1"/>
                </a:solidFill>
              </a:defRPr>
            </a:lvl1pPr>
            <a:lvl2pPr marL="914400" lvl="1" indent="-406400" algn="l">
              <a:lnSpc>
                <a:spcPct val="100000"/>
              </a:lnSpc>
              <a:spcBef>
                <a:spcPts val="560"/>
              </a:spcBef>
              <a:spcAft>
                <a:spcPts val="0"/>
              </a:spcAft>
              <a:buClr>
                <a:schemeClr val="dk1"/>
              </a:buClr>
              <a:buSzPts val="2800"/>
              <a:buChar char="–"/>
              <a:defRPr>
                <a:solidFill>
                  <a:schemeClr val="dk1"/>
                </a:solidFill>
              </a:defRPr>
            </a:lvl2pPr>
            <a:lvl3pPr marL="1371600" lvl="2" indent="-381000" algn="l">
              <a:lnSpc>
                <a:spcPct val="100000"/>
              </a:lnSpc>
              <a:spcBef>
                <a:spcPts val="480"/>
              </a:spcBef>
              <a:spcAft>
                <a:spcPts val="0"/>
              </a:spcAft>
              <a:buClr>
                <a:schemeClr val="dk1"/>
              </a:buClr>
              <a:buSzPts val="2400"/>
              <a:buChar char="•"/>
              <a:defRPr>
                <a:solidFill>
                  <a:schemeClr val="dk1"/>
                </a:solidFill>
              </a:defRPr>
            </a:lvl3pPr>
            <a:lvl4pPr marL="1828800" lvl="3" indent="-355600" algn="l">
              <a:lnSpc>
                <a:spcPct val="100000"/>
              </a:lnSpc>
              <a:spcBef>
                <a:spcPts val="400"/>
              </a:spcBef>
              <a:spcAft>
                <a:spcPts val="0"/>
              </a:spcAft>
              <a:buClr>
                <a:schemeClr val="dk1"/>
              </a:buClr>
              <a:buSzPts val="2000"/>
              <a:buChar char="–"/>
              <a:defRPr>
                <a:solidFill>
                  <a:schemeClr val="dk1"/>
                </a:solidFill>
              </a:defRPr>
            </a:lvl4pPr>
            <a:lvl5pPr marL="2286000" lvl="4" indent="-355600" algn="l">
              <a:lnSpc>
                <a:spcPct val="100000"/>
              </a:lnSpc>
              <a:spcBef>
                <a:spcPts val="400"/>
              </a:spcBef>
              <a:spcAft>
                <a:spcPts val="0"/>
              </a:spcAft>
              <a:buClr>
                <a:schemeClr val="dk1"/>
              </a:buClr>
              <a:buSzPts val="2000"/>
              <a:buChar char="»"/>
              <a:defRPr>
                <a:solidFill>
                  <a:schemeClr val="dk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2" name="Google Shape;72;p1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510570" y="389633"/>
            <a:ext cx="8093365" cy="763525"/>
          </a:xfrm>
          <a:prstGeom prst="rect">
            <a:avLst/>
          </a:prstGeom>
          <a:noFill/>
          <a:ln>
            <a:noFill/>
          </a:ln>
        </p:spPr>
        <p:txBody>
          <a:bodyPr spcFirstLastPara="1" wrap="square" lIns="91425" tIns="45700" rIns="91425" bIns="45700" anchor="ctr" anchorCtr="0">
            <a:normAutofit/>
          </a:bodyPr>
          <a:lstStyle>
            <a:lvl1pPr lvl="0" algn="r">
              <a:lnSpc>
                <a:spcPct val="10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7"/>
          <p:cNvSpPr txBox="1">
            <a:spLocks noGrp="1"/>
          </p:cNvSpPr>
          <p:nvPr>
            <p:ph type="body" idx="1"/>
          </p:nvPr>
        </p:nvSpPr>
        <p:spPr>
          <a:xfrm>
            <a:off x="522131" y="1618649"/>
            <a:ext cx="4040188" cy="479822"/>
          </a:xfrm>
          <a:prstGeom prst="rect">
            <a:avLst/>
          </a:prstGeom>
          <a:noFill/>
          <a:ln>
            <a:noFill/>
          </a:ln>
        </p:spPr>
        <p:txBody>
          <a:bodyPr spcFirstLastPara="1" wrap="square" lIns="91425" tIns="45700" rIns="91425" bIns="45700" anchor="b" anchorCtr="0">
            <a:normAutofit/>
          </a:bodyPr>
          <a:lstStyle>
            <a:lvl1pPr marL="457200" lvl="0" indent="-228600" algn="ctr">
              <a:lnSpc>
                <a:spcPct val="100000"/>
              </a:lnSpc>
              <a:spcBef>
                <a:spcPts val="480"/>
              </a:spcBef>
              <a:spcAft>
                <a:spcPts val="0"/>
              </a:spcAft>
              <a:buClr>
                <a:schemeClr val="dk1"/>
              </a:buClr>
              <a:buSzPts val="2400"/>
              <a:buNone/>
              <a:defRPr sz="2400" b="1">
                <a:solidFill>
                  <a:schemeClr val="dk1"/>
                </a:solidFill>
              </a:defRPr>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78" name="Google Shape;78;p17"/>
          <p:cNvSpPr txBox="1">
            <a:spLocks noGrp="1"/>
          </p:cNvSpPr>
          <p:nvPr>
            <p:ph type="body" idx="2"/>
          </p:nvPr>
        </p:nvSpPr>
        <p:spPr>
          <a:xfrm>
            <a:off x="522131" y="2091046"/>
            <a:ext cx="4040188" cy="2276294"/>
          </a:xfrm>
          <a:prstGeom prst="rect">
            <a:avLst/>
          </a:prstGeom>
          <a:noFill/>
          <a:ln>
            <a:noFill/>
          </a:ln>
        </p:spPr>
        <p:txBody>
          <a:bodyPr spcFirstLastPara="1" wrap="square" lIns="91425" tIns="45700" rIns="91425" bIns="45700" anchor="t" anchorCtr="0">
            <a:normAutofit/>
          </a:bodyPr>
          <a:lstStyle>
            <a:lvl1pPr marL="457200" lvl="0" indent="-381000" algn="ctr">
              <a:lnSpc>
                <a:spcPct val="100000"/>
              </a:lnSpc>
              <a:spcBef>
                <a:spcPts val="480"/>
              </a:spcBef>
              <a:spcAft>
                <a:spcPts val="0"/>
              </a:spcAft>
              <a:buClr>
                <a:schemeClr val="dk1"/>
              </a:buClr>
              <a:buSzPts val="2400"/>
              <a:buChar char="•"/>
              <a:defRPr sz="2400">
                <a:solidFill>
                  <a:schemeClr val="dk1"/>
                </a:solidFill>
              </a:defRPr>
            </a:lvl1pPr>
            <a:lvl2pPr marL="914400" lvl="1" indent="-355600" algn="ctr">
              <a:lnSpc>
                <a:spcPct val="100000"/>
              </a:lnSpc>
              <a:spcBef>
                <a:spcPts val="400"/>
              </a:spcBef>
              <a:spcAft>
                <a:spcPts val="0"/>
              </a:spcAft>
              <a:buClr>
                <a:schemeClr val="dk1"/>
              </a:buClr>
              <a:buSzPts val="2000"/>
              <a:buChar char="–"/>
              <a:defRPr sz="2000">
                <a:solidFill>
                  <a:schemeClr val="dk1"/>
                </a:solidFill>
              </a:defRPr>
            </a:lvl2pPr>
            <a:lvl3pPr marL="1371600" lvl="2" indent="-342900" algn="ctr">
              <a:lnSpc>
                <a:spcPct val="100000"/>
              </a:lnSpc>
              <a:spcBef>
                <a:spcPts val="360"/>
              </a:spcBef>
              <a:spcAft>
                <a:spcPts val="0"/>
              </a:spcAft>
              <a:buClr>
                <a:schemeClr val="dk1"/>
              </a:buClr>
              <a:buSzPts val="1800"/>
              <a:buChar char="•"/>
              <a:defRPr sz="1800">
                <a:solidFill>
                  <a:schemeClr val="dk1"/>
                </a:solidFill>
              </a:defRPr>
            </a:lvl3pPr>
            <a:lvl4pPr marL="1828800" lvl="3" indent="-330200" algn="ctr">
              <a:lnSpc>
                <a:spcPct val="100000"/>
              </a:lnSpc>
              <a:spcBef>
                <a:spcPts val="320"/>
              </a:spcBef>
              <a:spcAft>
                <a:spcPts val="0"/>
              </a:spcAft>
              <a:buClr>
                <a:schemeClr val="dk1"/>
              </a:buClr>
              <a:buSzPts val="1600"/>
              <a:buChar char="–"/>
              <a:defRPr sz="1600">
                <a:solidFill>
                  <a:schemeClr val="dk1"/>
                </a:solidFill>
              </a:defRPr>
            </a:lvl4pPr>
            <a:lvl5pPr marL="2286000" lvl="4" indent="-330200" algn="ctr">
              <a:lnSpc>
                <a:spcPct val="100000"/>
              </a:lnSpc>
              <a:spcBef>
                <a:spcPts val="320"/>
              </a:spcBef>
              <a:spcAft>
                <a:spcPts val="0"/>
              </a:spcAft>
              <a:buClr>
                <a:schemeClr val="dk1"/>
              </a:buClr>
              <a:buSzPts val="1600"/>
              <a:buChar char="»"/>
              <a:defRPr sz="1600">
                <a:solidFill>
                  <a:schemeClr val="dk1"/>
                </a:solidFill>
              </a:defRPr>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79" name="Google Shape;79;p17"/>
          <p:cNvSpPr txBox="1">
            <a:spLocks noGrp="1"/>
          </p:cNvSpPr>
          <p:nvPr>
            <p:ph type="body" idx="3"/>
          </p:nvPr>
        </p:nvSpPr>
        <p:spPr>
          <a:xfrm>
            <a:off x="4557252" y="1618649"/>
            <a:ext cx="4041775" cy="479822"/>
          </a:xfrm>
          <a:prstGeom prst="rect">
            <a:avLst/>
          </a:prstGeom>
          <a:noFill/>
          <a:ln>
            <a:noFill/>
          </a:ln>
        </p:spPr>
        <p:txBody>
          <a:bodyPr spcFirstLastPara="1" wrap="square" lIns="91425" tIns="45700" rIns="91425" bIns="45700" anchor="b" anchorCtr="0">
            <a:normAutofit/>
          </a:bodyPr>
          <a:lstStyle>
            <a:lvl1pPr marL="457200" lvl="0" indent="-228600" algn="ctr">
              <a:lnSpc>
                <a:spcPct val="100000"/>
              </a:lnSpc>
              <a:spcBef>
                <a:spcPts val="480"/>
              </a:spcBef>
              <a:spcAft>
                <a:spcPts val="0"/>
              </a:spcAft>
              <a:buClr>
                <a:schemeClr val="dk1"/>
              </a:buClr>
              <a:buSzPts val="2400"/>
              <a:buNone/>
              <a:defRPr sz="2400" b="1">
                <a:solidFill>
                  <a:schemeClr val="dk1"/>
                </a:solidFill>
              </a:defRPr>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80" name="Google Shape;80;p17"/>
          <p:cNvSpPr txBox="1">
            <a:spLocks noGrp="1"/>
          </p:cNvSpPr>
          <p:nvPr>
            <p:ph type="body" idx="4"/>
          </p:nvPr>
        </p:nvSpPr>
        <p:spPr>
          <a:xfrm>
            <a:off x="4557252" y="2091046"/>
            <a:ext cx="4041775" cy="2276294"/>
          </a:xfrm>
          <a:prstGeom prst="rect">
            <a:avLst/>
          </a:prstGeom>
          <a:noFill/>
          <a:ln>
            <a:noFill/>
          </a:ln>
        </p:spPr>
        <p:txBody>
          <a:bodyPr spcFirstLastPara="1" wrap="square" lIns="91425" tIns="45700" rIns="91425" bIns="45700" anchor="t" anchorCtr="0">
            <a:normAutofit/>
          </a:bodyPr>
          <a:lstStyle>
            <a:lvl1pPr marL="457200" lvl="0" indent="-381000" algn="ctr">
              <a:lnSpc>
                <a:spcPct val="100000"/>
              </a:lnSpc>
              <a:spcBef>
                <a:spcPts val="480"/>
              </a:spcBef>
              <a:spcAft>
                <a:spcPts val="0"/>
              </a:spcAft>
              <a:buClr>
                <a:schemeClr val="dk1"/>
              </a:buClr>
              <a:buSzPts val="2400"/>
              <a:buChar char="•"/>
              <a:defRPr sz="2400">
                <a:solidFill>
                  <a:schemeClr val="dk1"/>
                </a:solidFill>
              </a:defRPr>
            </a:lvl1pPr>
            <a:lvl2pPr marL="914400" lvl="1" indent="-355600" algn="ctr">
              <a:lnSpc>
                <a:spcPct val="100000"/>
              </a:lnSpc>
              <a:spcBef>
                <a:spcPts val="400"/>
              </a:spcBef>
              <a:spcAft>
                <a:spcPts val="0"/>
              </a:spcAft>
              <a:buClr>
                <a:schemeClr val="dk1"/>
              </a:buClr>
              <a:buSzPts val="2000"/>
              <a:buChar char="–"/>
              <a:defRPr sz="2000">
                <a:solidFill>
                  <a:schemeClr val="dk1"/>
                </a:solidFill>
              </a:defRPr>
            </a:lvl2pPr>
            <a:lvl3pPr marL="1371600" lvl="2" indent="-342900" algn="ctr">
              <a:lnSpc>
                <a:spcPct val="100000"/>
              </a:lnSpc>
              <a:spcBef>
                <a:spcPts val="360"/>
              </a:spcBef>
              <a:spcAft>
                <a:spcPts val="0"/>
              </a:spcAft>
              <a:buClr>
                <a:schemeClr val="dk1"/>
              </a:buClr>
              <a:buSzPts val="1800"/>
              <a:buChar char="•"/>
              <a:defRPr sz="1800">
                <a:solidFill>
                  <a:schemeClr val="dk1"/>
                </a:solidFill>
              </a:defRPr>
            </a:lvl3pPr>
            <a:lvl4pPr marL="1828800" lvl="3" indent="-330200" algn="ctr">
              <a:lnSpc>
                <a:spcPct val="100000"/>
              </a:lnSpc>
              <a:spcBef>
                <a:spcPts val="320"/>
              </a:spcBef>
              <a:spcAft>
                <a:spcPts val="0"/>
              </a:spcAft>
              <a:buClr>
                <a:schemeClr val="dk1"/>
              </a:buClr>
              <a:buSzPts val="1600"/>
              <a:buChar char="–"/>
              <a:defRPr sz="1600">
                <a:solidFill>
                  <a:schemeClr val="dk1"/>
                </a:solidFill>
              </a:defRPr>
            </a:lvl4pPr>
            <a:lvl5pPr marL="2286000" lvl="4" indent="-330200" algn="ctr">
              <a:lnSpc>
                <a:spcPct val="100000"/>
              </a:lnSpc>
              <a:spcBef>
                <a:spcPts val="320"/>
              </a:spcBef>
              <a:spcAft>
                <a:spcPts val="0"/>
              </a:spcAft>
              <a:buClr>
                <a:schemeClr val="dk1"/>
              </a:buClr>
              <a:buSzPts val="1600"/>
              <a:buChar char="»"/>
              <a:defRPr sz="1600">
                <a:solidFill>
                  <a:schemeClr val="dk1"/>
                </a:solidFill>
              </a:defRPr>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81" name="Google Shape;81;p1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
        <p:nvSpPr>
          <p:cNvPr id="85" name="Google Shape;85;p1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9"/>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91" name="Google Shape;91;p1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0"/>
          <p:cNvSpPr txBox="1">
            <a:spLocks noGrp="1"/>
          </p:cNvSpPr>
          <p:nvPr>
            <p:ph type="body" idx="1"/>
          </p:nvPr>
        </p:nvSpPr>
        <p:spPr>
          <a:xfrm>
            <a:off x="457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97" name="Google Shape;97;p20"/>
          <p:cNvSpPr txBox="1">
            <a:spLocks noGrp="1"/>
          </p:cNvSpPr>
          <p:nvPr>
            <p:ph type="body" idx="2"/>
          </p:nvPr>
        </p:nvSpPr>
        <p:spPr>
          <a:xfrm>
            <a:off x="4648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98" name="Google Shape;98;p2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2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2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22"/>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09" name="Google Shape;109;p22"/>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10" name="Google Shape;110;p2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23"/>
          <p:cNvSpPr>
            <a:spLocks noGrp="1"/>
          </p:cNvSpPr>
          <p:nvPr>
            <p:ph type="pic" idx="2"/>
          </p:nvPr>
        </p:nvSpPr>
        <p:spPr>
          <a:xfrm>
            <a:off x="1792288" y="459581"/>
            <a:ext cx="5486400" cy="3086100"/>
          </a:xfrm>
          <a:prstGeom prst="rect">
            <a:avLst/>
          </a:prstGeom>
          <a:noFill/>
          <a:ln>
            <a:noFill/>
          </a:ln>
        </p:spPr>
      </p:sp>
      <p:sp>
        <p:nvSpPr>
          <p:cNvPr id="116" name="Google Shape;116;p23"/>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17" name="Google Shape;117;p2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2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2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24"/>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23" name="Google Shape;123;p2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2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2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6"/>
        <p:cNvGrpSpPr/>
        <p:nvPr/>
      </p:nvGrpSpPr>
      <p:grpSpPr>
        <a:xfrm>
          <a:off x="0" y="0"/>
          <a:ext cx="0" cy="0"/>
          <a:chOff x="0" y="0"/>
          <a:chExt cx="0" cy="0"/>
        </a:xfrm>
      </p:grpSpPr>
      <p:sp>
        <p:nvSpPr>
          <p:cNvPr id="127" name="Google Shape;127;p25"/>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25"/>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29" name="Google Shape;129;p2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2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2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132" name="Google Shape;132;p25" descr="E:\websites\free-power-point-templates\2012\logos.png"/>
          <p:cNvPicPr preferRelativeResize="0"/>
          <p:nvPr/>
        </p:nvPicPr>
        <p:blipFill rotWithShape="1">
          <a:blip r:embed="rId2">
            <a:alphaModFix/>
          </a:blip>
          <a:srcRect/>
          <a:stretch/>
        </p:blipFill>
        <p:spPr>
          <a:xfrm>
            <a:off x="3808475" y="2326213"/>
            <a:ext cx="1463784" cy="52696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3"/>
        <p:cNvGrpSpPr/>
        <p:nvPr/>
      </p:nvGrpSpPr>
      <p:grpSpPr>
        <a:xfrm>
          <a:off x="0" y="0"/>
          <a:ext cx="0" cy="0"/>
          <a:chOff x="0" y="0"/>
          <a:chExt cx="0" cy="0"/>
        </a:xfrm>
      </p:grpSpPr>
      <p:sp>
        <p:nvSpPr>
          <p:cNvPr id="134" name="Google Shape;134;p26"/>
          <p:cNvSpPr txBox="1">
            <a:spLocks noGrp="1"/>
          </p:cNvSpPr>
          <p:nvPr>
            <p:ph type="title"/>
          </p:nvPr>
        </p:nvSpPr>
        <p:spPr>
          <a:xfrm>
            <a:off x="311700" y="445025"/>
            <a:ext cx="8520600" cy="572700"/>
          </a:xfrm>
          <a:prstGeom prst="rect">
            <a:avLst/>
          </a:prstGeom>
        </p:spPr>
        <p:txBody>
          <a:bodyPr spcFirstLastPara="1" wrap="square" lIns="91425" tIns="45700" rIns="91425" bIns="45700" anchor="ctr"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26"/>
          <p:cNvSpPr txBox="1">
            <a:spLocks noGrp="1"/>
          </p:cNvSpPr>
          <p:nvPr>
            <p:ph type="body" idx="1"/>
          </p:nvPr>
        </p:nvSpPr>
        <p:spPr>
          <a:xfrm>
            <a:off x="311700" y="1152475"/>
            <a:ext cx="8520600" cy="3416400"/>
          </a:xfrm>
          <a:prstGeom prst="rect">
            <a:avLst/>
          </a:prstGeom>
        </p:spPr>
        <p:txBody>
          <a:bodyPr spcFirstLastPara="1" wrap="square" lIns="91425" tIns="45700" rIns="91425" bIns="45700" anchor="t" anchorCtr="0">
            <a:normAutofit/>
          </a:bodyPr>
          <a:lstStyle>
            <a:lvl1pPr marL="457200" lvl="0" indent="-431800">
              <a:spcBef>
                <a:spcPts val="640"/>
              </a:spcBef>
              <a:spcAft>
                <a:spcPts val="0"/>
              </a:spcAft>
              <a:buSzPts val="3200"/>
              <a:buChar char="•"/>
              <a:defRPr/>
            </a:lvl1pPr>
            <a:lvl2pPr marL="914400" lvl="1" indent="-406400">
              <a:spcBef>
                <a:spcPts val="560"/>
              </a:spcBef>
              <a:spcAft>
                <a:spcPts val="0"/>
              </a:spcAft>
              <a:buSzPts val="2800"/>
              <a:buChar char="–"/>
              <a:defRPr/>
            </a:lvl2pPr>
            <a:lvl3pPr marL="1371600" lvl="2" indent="-381000">
              <a:spcBef>
                <a:spcPts val="480"/>
              </a:spcBef>
              <a:spcAft>
                <a:spcPts val="0"/>
              </a:spcAft>
              <a:buSzPts val="2400"/>
              <a:buChar char="•"/>
              <a:defRPr/>
            </a:lvl3pPr>
            <a:lvl4pPr marL="1828800" lvl="3" indent="-355600">
              <a:spcBef>
                <a:spcPts val="400"/>
              </a:spcBef>
              <a:spcAft>
                <a:spcPts val="0"/>
              </a:spcAft>
              <a:buSzPts val="2000"/>
              <a:buChar char="–"/>
              <a:defRPr/>
            </a:lvl4pPr>
            <a:lvl5pPr marL="2286000" lvl="4" indent="-355600">
              <a:spcBef>
                <a:spcPts val="400"/>
              </a:spcBef>
              <a:spcAft>
                <a:spcPts val="0"/>
              </a:spcAft>
              <a:buSzPts val="2000"/>
              <a:buChar char="»"/>
              <a:defRPr/>
            </a:lvl5pPr>
            <a:lvl6pPr marL="2743200" lvl="5" indent="-355600">
              <a:spcBef>
                <a:spcPts val="400"/>
              </a:spcBef>
              <a:spcAft>
                <a:spcPts val="0"/>
              </a:spcAft>
              <a:buSzPts val="2000"/>
              <a:buChar char="•"/>
              <a:defRPr/>
            </a:lvl6pPr>
            <a:lvl7pPr marL="3200400" lvl="6" indent="-355600">
              <a:spcBef>
                <a:spcPts val="400"/>
              </a:spcBef>
              <a:spcAft>
                <a:spcPts val="0"/>
              </a:spcAft>
              <a:buSzPts val="2000"/>
              <a:buChar char="•"/>
              <a:defRPr/>
            </a:lvl7pPr>
            <a:lvl8pPr marL="3657600" lvl="7" indent="-355600">
              <a:spcBef>
                <a:spcPts val="400"/>
              </a:spcBef>
              <a:spcAft>
                <a:spcPts val="0"/>
              </a:spcAft>
              <a:buSzPts val="2000"/>
              <a:buChar char="•"/>
              <a:defRPr/>
            </a:lvl8pPr>
            <a:lvl9pPr marL="4114800" lvl="8" indent="-355600">
              <a:spcBef>
                <a:spcPts val="400"/>
              </a:spcBef>
              <a:spcAft>
                <a:spcPts val="0"/>
              </a:spcAft>
              <a:buSzPts val="2000"/>
              <a:buChar char="•"/>
              <a:defRPr/>
            </a:lvl9pPr>
          </a:lstStyle>
          <a:p>
            <a:endParaRPr/>
          </a:p>
        </p:txBody>
      </p:sp>
      <p:sp>
        <p:nvSpPr>
          <p:cNvPr id="136" name="Google Shape;136;p26"/>
          <p:cNvSpPr txBox="1">
            <a:spLocks noGrp="1"/>
          </p:cNvSpPr>
          <p:nvPr>
            <p:ph type="sldNum" idx="12"/>
          </p:nvPr>
        </p:nvSpPr>
        <p:spPr>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5">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56" name="Google Shape;56;p13"/>
          <p:cNvSpPr txBox="1"/>
          <p:nvPr/>
        </p:nvSpPr>
        <p:spPr>
          <a:xfrm>
            <a:off x="-9150" y="5213747"/>
            <a:ext cx="838962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A5A5A5"/>
                </a:solidFill>
                <a:latin typeface="Calibri"/>
                <a:ea typeface="Calibri"/>
                <a:cs typeface="Calibri"/>
                <a:sym typeface="Calibri"/>
              </a:rPr>
              <a:t>This presentation uses a free template provided by FPPT.com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A5A5A5"/>
                </a:solidFill>
                <a:latin typeface="Calibri"/>
                <a:ea typeface="Calibri"/>
                <a:cs typeface="Calibri"/>
                <a:sym typeface="Calibri"/>
              </a:rPr>
              <a:t>www.free-power-point-templates.com</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hyperlink" Target="https://www.sciencedirect.com/org/journal/computers-materials-and-continua/vol/86/issue/2" TargetMode="External"/><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4.xml"/><Relationship Id="rId5" Type="http://schemas.openxmlformats.org/officeDocument/2006/relationships/hyperlink" Target="https://robu.in/product-tag/led-display/" TargetMode="External"/><Relationship Id="rId4" Type="http://schemas.openxmlformats.org/officeDocument/2006/relationships/hyperlink" Target="https://robu.in/product-category/arduino-2/arduino/"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hyperlink" Target="https://www.sciencedirect.com/org/journal/computers-materials-and-continua/vol/86/issue/2" TargetMode="External"/><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7"/>
          <p:cNvSpPr txBox="1">
            <a:spLocks noGrp="1"/>
          </p:cNvSpPr>
          <p:nvPr>
            <p:ph type="title"/>
          </p:nvPr>
        </p:nvSpPr>
        <p:spPr>
          <a:xfrm>
            <a:off x="340150" y="3879800"/>
            <a:ext cx="6387900" cy="1263600"/>
          </a:xfrm>
          <a:prstGeom prst="rect">
            <a:avLst/>
          </a:prstGeom>
          <a:solidFill>
            <a:srgbClr val="93C47D"/>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990"/>
              <a:buFont typeface="Arial"/>
              <a:buNone/>
            </a:pPr>
            <a:r>
              <a:rPr lang="en" sz="2900" b="1">
                <a:solidFill>
                  <a:schemeClr val="dk1"/>
                </a:solidFill>
                <a:latin typeface="Times New Roman"/>
                <a:ea typeface="Times New Roman"/>
                <a:cs typeface="Times New Roman"/>
                <a:sym typeface="Times New Roman"/>
              </a:rPr>
              <a:t>Real Time Environmental Parameters Display</a:t>
            </a:r>
            <a:endParaRPr sz="2585"/>
          </a:p>
        </p:txBody>
      </p:sp>
      <p:pic>
        <p:nvPicPr>
          <p:cNvPr id="142" name="Google Shape;142;p27"/>
          <p:cNvPicPr preferRelativeResize="0"/>
          <p:nvPr/>
        </p:nvPicPr>
        <p:blipFill>
          <a:blip r:embed="rId3">
            <a:alphaModFix/>
          </a:blip>
          <a:stretch>
            <a:fillRect/>
          </a:stretch>
        </p:blipFill>
        <p:spPr>
          <a:xfrm>
            <a:off x="340150" y="168925"/>
            <a:ext cx="6327726" cy="35531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0F3E8-B5A9-28A1-4FD0-281452E1E166}"/>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68B5DEB7-A8A2-AFBA-68E5-7000462D5DDA}"/>
              </a:ext>
            </a:extLst>
          </p:cNvPr>
          <p:cNvSpPr>
            <a:spLocks noGrp="1"/>
          </p:cNvSpPr>
          <p:nvPr>
            <p:ph type="body" idx="1"/>
          </p:nvPr>
        </p:nvSpPr>
        <p:spPr>
          <a:xfrm>
            <a:off x="471948" y="1425844"/>
            <a:ext cx="6928493" cy="3717656"/>
          </a:xfrm>
        </p:spPr>
        <p:txBody>
          <a:bodyPr>
            <a:normAutofit lnSpcReduction="10000"/>
          </a:bodyPr>
          <a:lstStyle/>
          <a:p>
            <a:pPr marL="50800" indent="0" algn="ctr">
              <a:buNone/>
            </a:pPr>
            <a:r>
              <a:rPr lang="en-US" sz="2400" b="1" dirty="0">
                <a:latin typeface="Times New Roman" panose="02020603050405020304" pitchFamily="18" charset="0"/>
                <a:cs typeface="Times New Roman" panose="02020603050405020304" pitchFamily="18" charset="0"/>
              </a:rPr>
              <a:t>Real Time Environmental Parameters Display</a:t>
            </a:r>
            <a:endParaRPr lang="en-IN" sz="2400" b="1" dirty="0">
              <a:latin typeface="Times New Roman" panose="02020603050405020304" pitchFamily="18" charset="0"/>
              <a:cs typeface="Times New Roman" panose="02020603050405020304" pitchFamily="18" charset="0"/>
            </a:endParaRPr>
          </a:p>
          <a:p>
            <a:pPr marL="50800" indent="0" algn="ctr">
              <a:buNone/>
            </a:pPr>
            <a:r>
              <a:rPr lang="en-IN" sz="1600" b="1" dirty="0">
                <a:latin typeface="Times New Roman" panose="02020603050405020304" pitchFamily="18" charset="0"/>
                <a:cs typeface="Times New Roman" panose="02020603050405020304" pitchFamily="18" charset="0"/>
              </a:rPr>
              <a:t>Session:- 2025-2026</a:t>
            </a:r>
          </a:p>
          <a:p>
            <a:pPr marL="50800" indent="0" algn="ctr">
              <a:buNone/>
            </a:pPr>
            <a:r>
              <a:rPr lang="en-IN" sz="1600" b="1" dirty="0">
                <a:latin typeface="Times New Roman" panose="02020603050405020304" pitchFamily="18" charset="0"/>
                <a:cs typeface="Times New Roman" panose="02020603050405020304" pitchFamily="18" charset="0"/>
              </a:rPr>
              <a:t>Submitted By:-</a:t>
            </a:r>
          </a:p>
          <a:p>
            <a:pPr marL="50800" indent="0" algn="just">
              <a:buNone/>
            </a:pPr>
            <a:endParaRPr lang="en-US" sz="1600" b="1" dirty="0">
              <a:latin typeface="Times New Roman" panose="02020603050405020304" pitchFamily="18" charset="0"/>
              <a:cs typeface="Times New Roman" panose="02020603050405020304" pitchFamily="18" charset="0"/>
            </a:endParaRPr>
          </a:p>
          <a:p>
            <a:pPr marL="50800" indent="0" algn="just">
              <a:buNone/>
            </a:pPr>
            <a:r>
              <a:rPr lang="en-US" sz="1600" b="1" dirty="0" err="1">
                <a:latin typeface="Times New Roman" panose="02020603050405020304" pitchFamily="18" charset="0"/>
                <a:cs typeface="Times New Roman" panose="02020603050405020304" pitchFamily="18" charset="0"/>
              </a:rPr>
              <a:t>Ms.Avantika</a:t>
            </a:r>
            <a:r>
              <a:rPr lang="en-US" sz="1600" b="1" dirty="0">
                <a:latin typeface="Times New Roman" panose="02020603050405020304" pitchFamily="18" charset="0"/>
                <a:cs typeface="Times New Roman" panose="02020603050405020304" pitchFamily="18" charset="0"/>
              </a:rPr>
              <a:t> K. </a:t>
            </a:r>
            <a:r>
              <a:rPr lang="en-US" sz="1600" b="1" dirty="0" err="1">
                <a:latin typeface="Times New Roman" panose="02020603050405020304" pitchFamily="18" charset="0"/>
                <a:cs typeface="Times New Roman" panose="02020603050405020304" pitchFamily="18" charset="0"/>
              </a:rPr>
              <a:t>Yerawar</a:t>
            </a:r>
            <a:r>
              <a:rPr lang="en-US" sz="1600" b="1"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 </a:t>
            </a:r>
            <a:r>
              <a:rPr lang="en-IN" sz="1600" b="1" dirty="0" err="1">
                <a:latin typeface="Times New Roman" panose="02020603050405020304" pitchFamily="18" charset="0"/>
                <a:cs typeface="Times New Roman" panose="02020603050405020304" pitchFamily="18" charset="0"/>
              </a:rPr>
              <a:t>Mr</a:t>
            </a:r>
            <a:r>
              <a:rPr lang="en-IN" sz="1600" dirty="0" err="1">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Pranay</a:t>
            </a:r>
            <a:r>
              <a:rPr lang="en-IN" sz="1600" b="1" dirty="0">
                <a:latin typeface="Times New Roman" panose="02020603050405020304" pitchFamily="18" charset="0"/>
                <a:cs typeface="Times New Roman" panose="02020603050405020304" pitchFamily="18" charset="0"/>
              </a:rPr>
              <a:t> V. Jadhao</a:t>
            </a:r>
            <a:endParaRPr lang="en-US" sz="1600" b="1" dirty="0">
              <a:latin typeface="Times New Roman" panose="02020603050405020304" pitchFamily="18" charset="0"/>
              <a:cs typeface="Times New Roman" panose="02020603050405020304" pitchFamily="18" charset="0"/>
            </a:endParaRPr>
          </a:p>
          <a:p>
            <a:pPr marL="50800" indent="0" algn="just">
              <a:buNone/>
            </a:pPr>
            <a:r>
              <a:rPr lang="en-US" sz="1600" b="1" dirty="0" err="1">
                <a:latin typeface="Times New Roman" panose="02020603050405020304" pitchFamily="18" charset="0"/>
                <a:cs typeface="Times New Roman" panose="02020603050405020304" pitchFamily="18" charset="0"/>
              </a:rPr>
              <a:t>Ms.Riya</a:t>
            </a:r>
            <a:r>
              <a:rPr lang="en-US" sz="1600" b="1" dirty="0">
                <a:latin typeface="Times New Roman" panose="02020603050405020304" pitchFamily="18" charset="0"/>
                <a:cs typeface="Times New Roman" panose="02020603050405020304" pitchFamily="18" charset="0"/>
              </a:rPr>
              <a:t> S. Wankhede                                            </a:t>
            </a:r>
            <a:r>
              <a:rPr lang="en-US" sz="1600" b="1" dirty="0" err="1">
                <a:latin typeface="Times New Roman" panose="02020603050405020304" pitchFamily="18" charset="0"/>
                <a:cs typeface="Times New Roman" panose="02020603050405020304" pitchFamily="18" charset="0"/>
              </a:rPr>
              <a:t>Mr.Lokesh</a:t>
            </a:r>
            <a:r>
              <a:rPr lang="en-US" sz="1600" b="1" dirty="0">
                <a:latin typeface="Times New Roman" panose="02020603050405020304" pitchFamily="18" charset="0"/>
                <a:cs typeface="Times New Roman" panose="02020603050405020304" pitchFamily="18" charset="0"/>
              </a:rPr>
              <a:t> K. </a:t>
            </a:r>
            <a:r>
              <a:rPr lang="en-US" sz="1600" b="1" dirty="0" err="1">
                <a:latin typeface="Times New Roman" panose="02020603050405020304" pitchFamily="18" charset="0"/>
                <a:cs typeface="Times New Roman" panose="02020603050405020304" pitchFamily="18" charset="0"/>
              </a:rPr>
              <a:t>Chirde</a:t>
            </a:r>
            <a:endParaRPr lang="en-IN" sz="1600" b="1" dirty="0">
              <a:latin typeface="Times New Roman" panose="02020603050405020304" pitchFamily="18" charset="0"/>
              <a:cs typeface="Times New Roman" panose="02020603050405020304" pitchFamily="18" charset="0"/>
            </a:endParaRPr>
          </a:p>
          <a:p>
            <a:pPr marL="50800" indent="0" algn="just">
              <a:buNone/>
            </a:pPr>
            <a:r>
              <a:rPr lang="en-IN" sz="1600" b="1" dirty="0" err="1">
                <a:latin typeface="Times New Roman" panose="02020603050405020304" pitchFamily="18" charset="0"/>
                <a:cs typeface="Times New Roman" panose="02020603050405020304" pitchFamily="18" charset="0"/>
              </a:rPr>
              <a:t>Mr.Uday</a:t>
            </a:r>
            <a:r>
              <a:rPr lang="en-IN" sz="1600" b="1" dirty="0">
                <a:latin typeface="Times New Roman" panose="02020603050405020304" pitchFamily="18" charset="0"/>
                <a:cs typeface="Times New Roman" panose="02020603050405020304" pitchFamily="18" charset="0"/>
              </a:rPr>
              <a:t> P. </a:t>
            </a:r>
            <a:r>
              <a:rPr lang="en-IN" sz="1600" b="1" dirty="0" err="1">
                <a:latin typeface="Times New Roman" panose="02020603050405020304" pitchFamily="18" charset="0"/>
                <a:cs typeface="Times New Roman" panose="02020603050405020304" pitchFamily="18" charset="0"/>
              </a:rPr>
              <a:t>Nalhe</a:t>
            </a:r>
            <a:r>
              <a:rPr lang="en-IN" sz="1600" b="1" dirty="0">
                <a:latin typeface="Times New Roman" panose="02020603050405020304" pitchFamily="18" charset="0"/>
                <a:cs typeface="Times New Roman" panose="02020603050405020304" pitchFamily="18" charset="0"/>
              </a:rPr>
              <a:t>                                                   </a:t>
            </a:r>
            <a:r>
              <a:rPr lang="en-IN" sz="1600" b="1" dirty="0" err="1">
                <a:latin typeface="Times New Roman" panose="02020603050405020304" pitchFamily="18" charset="0"/>
                <a:cs typeface="Times New Roman" panose="02020603050405020304" pitchFamily="18" charset="0"/>
              </a:rPr>
              <a:t>Ms.Gauri</a:t>
            </a:r>
            <a:r>
              <a:rPr lang="en-IN" sz="1600" b="1" dirty="0">
                <a:latin typeface="Times New Roman" panose="02020603050405020304" pitchFamily="18" charset="0"/>
                <a:cs typeface="Times New Roman" panose="02020603050405020304" pitchFamily="18" charset="0"/>
              </a:rPr>
              <a:t> B. </a:t>
            </a:r>
            <a:r>
              <a:rPr lang="en-IN" sz="1600" b="1" dirty="0" err="1">
                <a:latin typeface="Times New Roman" panose="02020603050405020304" pitchFamily="18" charset="0"/>
                <a:cs typeface="Times New Roman" panose="02020603050405020304" pitchFamily="18" charset="0"/>
              </a:rPr>
              <a:t>Chapke</a:t>
            </a:r>
            <a:endParaRPr lang="en-US" sz="1600" b="1" dirty="0">
              <a:latin typeface="Times New Roman" panose="02020603050405020304" pitchFamily="18" charset="0"/>
              <a:cs typeface="Times New Roman" panose="02020603050405020304" pitchFamily="18" charset="0"/>
            </a:endParaRPr>
          </a:p>
          <a:p>
            <a:pPr marL="50800" indent="0" algn="just">
              <a:buNone/>
            </a:pPr>
            <a:r>
              <a:rPr lang="en-US" sz="1600" b="1" dirty="0" err="1">
                <a:latin typeface="Times New Roman" panose="02020603050405020304" pitchFamily="18" charset="0"/>
                <a:cs typeface="Times New Roman" panose="02020603050405020304" pitchFamily="18" charset="0"/>
              </a:rPr>
              <a:t>Ms.Tanvi</a:t>
            </a:r>
            <a:r>
              <a:rPr lang="en-US" sz="1600" b="1" dirty="0">
                <a:latin typeface="Times New Roman" panose="02020603050405020304" pitchFamily="18" charset="0"/>
                <a:cs typeface="Times New Roman" panose="02020603050405020304" pitchFamily="18" charset="0"/>
              </a:rPr>
              <a:t> A. </a:t>
            </a:r>
            <a:r>
              <a:rPr lang="en-US" sz="1600" b="1" dirty="0" err="1">
                <a:latin typeface="Times New Roman" panose="02020603050405020304" pitchFamily="18" charset="0"/>
                <a:cs typeface="Times New Roman" panose="02020603050405020304" pitchFamily="18" charset="0"/>
              </a:rPr>
              <a:t>Bijwe</a:t>
            </a:r>
            <a:endParaRPr lang="en-IN" sz="1600" b="1" dirty="0">
              <a:latin typeface="Times New Roman" panose="02020603050405020304" pitchFamily="18" charset="0"/>
              <a:cs typeface="Times New Roman" panose="02020603050405020304" pitchFamily="18" charset="0"/>
            </a:endParaRPr>
          </a:p>
          <a:p>
            <a:pPr marL="50800" indent="0" algn="just">
              <a:buNone/>
            </a:pPr>
            <a:endParaRPr lang="en-IN" sz="1800" b="1" dirty="0">
              <a:latin typeface="Times New Roman" panose="02020603050405020304" pitchFamily="18" charset="0"/>
              <a:cs typeface="Times New Roman" panose="02020603050405020304" pitchFamily="18" charset="0"/>
            </a:endParaRPr>
          </a:p>
          <a:p>
            <a:pPr marL="50800" indent="0" algn="just">
              <a:buNone/>
            </a:pPr>
            <a:r>
              <a:rPr lang="en-IN" sz="1600" b="1" dirty="0">
                <a:latin typeface="Times New Roman" panose="02020603050405020304" pitchFamily="18" charset="0"/>
                <a:cs typeface="Times New Roman" panose="02020603050405020304" pitchFamily="18" charset="0"/>
              </a:rPr>
              <a:t>Project Guide</a:t>
            </a:r>
          </a:p>
          <a:p>
            <a:pPr marL="50800" indent="0" algn="just">
              <a:buNone/>
            </a:pPr>
            <a:r>
              <a:rPr lang="en-IN" sz="1600" b="1" dirty="0">
                <a:latin typeface="Times New Roman" panose="02020603050405020304" pitchFamily="18" charset="0"/>
                <a:cs typeface="Times New Roman" panose="02020603050405020304" pitchFamily="18" charset="0"/>
              </a:rPr>
              <a:t>Dr. P. M. Pandit</a:t>
            </a:r>
            <a:endParaRPr lang="en-IN" sz="1600" dirty="0">
              <a:latin typeface="Times New Roman" panose="02020603050405020304" pitchFamily="18" charset="0"/>
              <a:cs typeface="Times New Roman" panose="02020603050405020304" pitchFamily="18" charset="0"/>
            </a:endParaRPr>
          </a:p>
          <a:p>
            <a:pPr marL="50800" indent="0" algn="just">
              <a:buNone/>
            </a:pPr>
            <a:endParaRPr lang="en-US" sz="1800" b="1" dirty="0"/>
          </a:p>
          <a:p>
            <a:endParaRPr lang="en-IN" dirty="0"/>
          </a:p>
        </p:txBody>
      </p:sp>
      <p:pic>
        <p:nvPicPr>
          <p:cNvPr id="4" name="Picture 3">
            <a:extLst>
              <a:ext uri="{FF2B5EF4-FFF2-40B4-BE49-F238E27FC236}">
                <a16:creationId xmlns:a16="http://schemas.microsoft.com/office/drawing/2014/main" id="{BE3336F7-17F0-D22C-C9AE-8FDAADA4C0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956" y="349590"/>
            <a:ext cx="7446936" cy="975515"/>
          </a:xfrm>
          <a:prstGeom prst="rect">
            <a:avLst/>
          </a:prstGeom>
          <a:pattFill prst="wdUpDiag">
            <a:fgClr>
              <a:schemeClr val="accent1"/>
            </a:fgClr>
            <a:bgClr>
              <a:srgbClr val="92D050"/>
            </a:bgClr>
          </a:pattFill>
        </p:spPr>
      </p:pic>
    </p:spTree>
    <p:extLst>
      <p:ext uri="{BB962C8B-B14F-4D97-AF65-F5344CB8AC3E}">
        <p14:creationId xmlns:p14="http://schemas.microsoft.com/office/powerpoint/2010/main" val="455739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8"/>
          <p:cNvSpPr txBox="1">
            <a:spLocks noGrp="1"/>
          </p:cNvSpPr>
          <p:nvPr>
            <p:ph type="title"/>
          </p:nvPr>
        </p:nvSpPr>
        <p:spPr>
          <a:xfrm>
            <a:off x="476818" y="318046"/>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600"/>
              <a:buFont typeface="Calibri"/>
              <a:buNone/>
            </a:pPr>
            <a:r>
              <a:rPr lang="en" sz="3000" b="1" dirty="0">
                <a:latin typeface="Times New Roman"/>
                <a:ea typeface="Times New Roman"/>
                <a:cs typeface="Times New Roman"/>
                <a:sym typeface="Times New Roman"/>
              </a:rPr>
              <a:t>CONTENT</a:t>
            </a:r>
            <a:endParaRPr sz="3000" b="1" dirty="0">
              <a:latin typeface="Times New Roman"/>
              <a:ea typeface="Times New Roman"/>
              <a:cs typeface="Times New Roman"/>
              <a:sym typeface="Times New Roman"/>
            </a:endParaRPr>
          </a:p>
        </p:txBody>
      </p:sp>
      <p:sp>
        <p:nvSpPr>
          <p:cNvPr id="148" name="Google Shape;148;p28"/>
          <p:cNvSpPr txBox="1">
            <a:spLocks noGrp="1"/>
          </p:cNvSpPr>
          <p:nvPr>
            <p:ph type="body" idx="1"/>
          </p:nvPr>
        </p:nvSpPr>
        <p:spPr>
          <a:xfrm>
            <a:off x="471948" y="1069258"/>
            <a:ext cx="6850500" cy="3619200"/>
          </a:xfrm>
          <a:prstGeom prst="rect">
            <a:avLst/>
          </a:prstGeom>
          <a:noFill/>
          <a:ln>
            <a:noFill/>
          </a:ln>
        </p:spPr>
        <p:txBody>
          <a:bodyPr spcFirstLastPara="1" wrap="square" lIns="91425" tIns="45700" rIns="91425" bIns="45700" anchor="t" anchorCtr="0">
            <a:noAutofit/>
          </a:bodyPr>
          <a:lstStyle/>
          <a:p>
            <a:pPr marL="374651" indent="-285750" algn="just">
              <a:lnSpc>
                <a:spcPct val="150000"/>
              </a:lnSpc>
              <a:spcBef>
                <a:spcPts val="600"/>
              </a:spcBef>
              <a:buClr>
                <a:srgbClr val="366092"/>
              </a:buClr>
              <a:buSzPts val="1400"/>
            </a:pPr>
            <a:r>
              <a:rPr lang="en" sz="1400" b="1" dirty="0">
                <a:latin typeface="Times New Roman"/>
                <a:ea typeface="Times New Roman"/>
                <a:cs typeface="Times New Roman"/>
                <a:sym typeface="Times New Roman"/>
              </a:rPr>
              <a:t>ABSTRACT</a:t>
            </a:r>
            <a:endParaRPr sz="1400" b="1" dirty="0">
              <a:latin typeface="Times New Roman"/>
              <a:ea typeface="Times New Roman"/>
              <a:cs typeface="Times New Roman"/>
              <a:sym typeface="Times New Roman"/>
            </a:endParaRPr>
          </a:p>
          <a:p>
            <a:pPr marL="425450" indent="-285750" algn="just">
              <a:lnSpc>
                <a:spcPct val="150000"/>
              </a:lnSpc>
              <a:spcBef>
                <a:spcPts val="0"/>
              </a:spcBef>
              <a:buSzPts val="1400"/>
            </a:pPr>
            <a:r>
              <a:rPr lang="en" sz="1400" b="1" dirty="0">
                <a:latin typeface="Times New Roman"/>
                <a:ea typeface="Times New Roman"/>
                <a:cs typeface="Times New Roman"/>
                <a:sym typeface="Times New Roman"/>
              </a:rPr>
              <a:t>INTRODUCTION</a:t>
            </a:r>
            <a:endParaRPr sz="1400" b="1" dirty="0">
              <a:latin typeface="Times New Roman"/>
              <a:ea typeface="Times New Roman"/>
              <a:cs typeface="Times New Roman"/>
              <a:sym typeface="Times New Roman"/>
            </a:endParaRPr>
          </a:p>
          <a:p>
            <a:pPr marL="425450" indent="-285750" algn="just">
              <a:lnSpc>
                <a:spcPct val="150000"/>
              </a:lnSpc>
              <a:spcBef>
                <a:spcPts val="0"/>
              </a:spcBef>
              <a:buSzPts val="1400"/>
            </a:pPr>
            <a:r>
              <a:rPr lang="en" sz="1400" b="1" dirty="0">
                <a:latin typeface="Times New Roman"/>
                <a:ea typeface="Times New Roman"/>
                <a:cs typeface="Times New Roman"/>
                <a:sym typeface="Times New Roman"/>
              </a:rPr>
              <a:t>PROBLEM STATEMENT</a:t>
            </a:r>
            <a:endParaRPr sz="1400" b="1" dirty="0">
              <a:latin typeface="Times New Roman"/>
              <a:ea typeface="Times New Roman"/>
              <a:cs typeface="Times New Roman"/>
              <a:sym typeface="Times New Roman"/>
            </a:endParaRPr>
          </a:p>
          <a:p>
            <a:pPr marL="425450" indent="-285750" algn="just">
              <a:lnSpc>
                <a:spcPct val="150000"/>
              </a:lnSpc>
              <a:spcBef>
                <a:spcPts val="0"/>
              </a:spcBef>
              <a:buSzPts val="1400"/>
            </a:pPr>
            <a:r>
              <a:rPr lang="en" sz="1400" b="1" dirty="0">
                <a:latin typeface="Times New Roman"/>
                <a:ea typeface="Times New Roman"/>
                <a:cs typeface="Times New Roman"/>
                <a:sym typeface="Times New Roman"/>
              </a:rPr>
              <a:t>OBJECTIVE</a:t>
            </a:r>
            <a:endParaRPr sz="1400" b="1" dirty="0">
              <a:latin typeface="Times New Roman"/>
              <a:ea typeface="Times New Roman"/>
              <a:cs typeface="Times New Roman"/>
              <a:sym typeface="Times New Roman"/>
            </a:endParaRPr>
          </a:p>
          <a:p>
            <a:pPr marL="425450" indent="-285750" algn="just">
              <a:lnSpc>
                <a:spcPct val="150000"/>
              </a:lnSpc>
              <a:spcBef>
                <a:spcPts val="0"/>
              </a:spcBef>
              <a:buSzPts val="1400"/>
            </a:pPr>
            <a:r>
              <a:rPr lang="en" sz="1400" b="1" dirty="0">
                <a:latin typeface="Times New Roman"/>
                <a:ea typeface="Times New Roman"/>
                <a:cs typeface="Times New Roman"/>
                <a:sym typeface="Times New Roman"/>
              </a:rPr>
              <a:t>LITERATURE REVIEW</a:t>
            </a:r>
            <a:endParaRPr sz="1400" b="1" dirty="0">
              <a:latin typeface="Times New Roman"/>
              <a:ea typeface="Times New Roman"/>
              <a:cs typeface="Times New Roman"/>
              <a:sym typeface="Times New Roman"/>
            </a:endParaRPr>
          </a:p>
          <a:p>
            <a:pPr marL="425450" indent="-285750" algn="just">
              <a:lnSpc>
                <a:spcPct val="150000"/>
              </a:lnSpc>
              <a:spcBef>
                <a:spcPts val="0"/>
              </a:spcBef>
              <a:buSzPts val="1400"/>
            </a:pPr>
            <a:r>
              <a:rPr lang="en" sz="1400" b="1" dirty="0">
                <a:latin typeface="Times New Roman"/>
                <a:ea typeface="Times New Roman"/>
                <a:cs typeface="Times New Roman"/>
                <a:sym typeface="Times New Roman"/>
              </a:rPr>
              <a:t>RESEARCH METHODOLOGY</a:t>
            </a:r>
            <a:endParaRPr sz="1400" b="1" dirty="0">
              <a:latin typeface="Times New Roman"/>
              <a:ea typeface="Times New Roman"/>
              <a:cs typeface="Times New Roman"/>
              <a:sym typeface="Times New Roman"/>
            </a:endParaRPr>
          </a:p>
          <a:p>
            <a:pPr marL="425450" indent="-285750" algn="just">
              <a:lnSpc>
                <a:spcPct val="150000"/>
              </a:lnSpc>
              <a:spcBef>
                <a:spcPts val="0"/>
              </a:spcBef>
              <a:buSzPts val="1400"/>
            </a:pPr>
            <a:r>
              <a:rPr lang="en" sz="1400" b="1" dirty="0">
                <a:latin typeface="Times New Roman"/>
                <a:ea typeface="Times New Roman"/>
                <a:cs typeface="Times New Roman"/>
                <a:sym typeface="Times New Roman"/>
              </a:rPr>
              <a:t>SYSTEM REQUIREMENT</a:t>
            </a:r>
            <a:endParaRPr sz="1400" b="1" dirty="0">
              <a:latin typeface="Times New Roman"/>
              <a:ea typeface="Times New Roman"/>
              <a:cs typeface="Times New Roman"/>
              <a:sym typeface="Times New Roman"/>
            </a:endParaRPr>
          </a:p>
          <a:p>
            <a:pPr marL="425450" indent="-285750" algn="just">
              <a:lnSpc>
                <a:spcPct val="150000"/>
              </a:lnSpc>
              <a:spcBef>
                <a:spcPts val="0"/>
              </a:spcBef>
              <a:buSzPts val="1400"/>
            </a:pPr>
            <a:r>
              <a:rPr lang="en" sz="1400" b="1" dirty="0">
                <a:latin typeface="Times New Roman"/>
                <a:ea typeface="Times New Roman"/>
                <a:cs typeface="Times New Roman"/>
                <a:sym typeface="Times New Roman"/>
              </a:rPr>
              <a:t>ADVANTAGES &amp; APPLICATIONS</a:t>
            </a:r>
            <a:endParaRPr sz="1400" b="1" dirty="0">
              <a:latin typeface="Times New Roman"/>
              <a:ea typeface="Times New Roman"/>
              <a:cs typeface="Times New Roman"/>
              <a:sym typeface="Times New Roman"/>
            </a:endParaRPr>
          </a:p>
          <a:p>
            <a:pPr marL="425450" indent="-285750" algn="just">
              <a:lnSpc>
                <a:spcPct val="150000"/>
              </a:lnSpc>
              <a:spcBef>
                <a:spcPts val="0"/>
              </a:spcBef>
              <a:buSzPts val="1400"/>
            </a:pPr>
            <a:r>
              <a:rPr lang="en" sz="1400" b="1" dirty="0">
                <a:latin typeface="Times New Roman"/>
                <a:ea typeface="Times New Roman"/>
                <a:cs typeface="Times New Roman"/>
                <a:sym typeface="Times New Roman"/>
              </a:rPr>
              <a:t>EXPERIMENTAL SETUP &amp; RESULT</a:t>
            </a:r>
            <a:endParaRPr sz="1400" b="1" dirty="0">
              <a:latin typeface="Times New Roman"/>
              <a:ea typeface="Times New Roman"/>
              <a:cs typeface="Times New Roman"/>
              <a:sym typeface="Times New Roman"/>
            </a:endParaRPr>
          </a:p>
          <a:p>
            <a:pPr marL="425450" indent="-285750" algn="just">
              <a:lnSpc>
                <a:spcPct val="150000"/>
              </a:lnSpc>
              <a:spcBef>
                <a:spcPts val="0"/>
              </a:spcBef>
              <a:buSzPts val="1400"/>
            </a:pPr>
            <a:r>
              <a:rPr lang="en" sz="1400" b="1" dirty="0">
                <a:latin typeface="Times New Roman"/>
                <a:ea typeface="Times New Roman"/>
                <a:cs typeface="Times New Roman"/>
                <a:sym typeface="Times New Roman"/>
              </a:rPr>
              <a:t>CONCLUSION &amp; FUTURE SCOPE</a:t>
            </a:r>
            <a:endParaRPr sz="1400" b="1" dirty="0">
              <a:latin typeface="Times New Roman"/>
              <a:ea typeface="Times New Roman"/>
              <a:cs typeface="Times New Roman"/>
              <a:sym typeface="Times New Roman"/>
            </a:endParaRPr>
          </a:p>
          <a:p>
            <a:pPr marL="425450" indent="-285750" algn="just">
              <a:lnSpc>
                <a:spcPct val="150000"/>
              </a:lnSpc>
              <a:spcBef>
                <a:spcPts val="0"/>
              </a:spcBef>
              <a:buSzPts val="1400"/>
            </a:pPr>
            <a:r>
              <a:rPr lang="en" sz="1400" b="1" dirty="0">
                <a:latin typeface="Times New Roman"/>
                <a:ea typeface="Times New Roman"/>
                <a:cs typeface="Times New Roman"/>
                <a:sym typeface="Times New Roman"/>
              </a:rPr>
              <a:t>REFERENCES</a:t>
            </a:r>
            <a:endParaRPr sz="3000" dirty="0"/>
          </a:p>
          <a:p>
            <a:pPr marL="171450" indent="-171450" algn="just">
              <a:lnSpc>
                <a:spcPct val="150000"/>
              </a:lnSpc>
              <a:spcBef>
                <a:spcPts val="0"/>
              </a:spcBef>
              <a:buSzPts val="1100"/>
            </a:pPr>
            <a:endParaRPr sz="1200" dirty="0">
              <a:latin typeface="Times New Roman"/>
              <a:ea typeface="Times New Roman"/>
              <a:cs typeface="Times New Roman"/>
              <a:sym typeface="Times New Roman"/>
            </a:endParaRPr>
          </a:p>
          <a:p>
            <a:pPr marL="298450" indent="-285750" algn="just">
              <a:lnSpc>
                <a:spcPct val="150000"/>
              </a:lnSpc>
              <a:spcBef>
                <a:spcPts val="600"/>
              </a:spcBef>
              <a:buSzPts val="1100"/>
            </a:pPr>
            <a:endParaRPr sz="1800" b="1"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9"/>
          <p:cNvSpPr txBox="1">
            <a:spLocks noGrp="1"/>
          </p:cNvSpPr>
          <p:nvPr>
            <p:ph type="title"/>
          </p:nvPr>
        </p:nvSpPr>
        <p:spPr>
          <a:xfrm>
            <a:off x="403818" y="-4"/>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0070C0"/>
              </a:buClr>
              <a:buSzPts val="3600"/>
              <a:buFont typeface="Calibri"/>
              <a:buNone/>
            </a:pPr>
            <a:r>
              <a:rPr lang="en" sz="2400" b="1" dirty="0">
                <a:latin typeface="Times New Roman"/>
                <a:ea typeface="Times New Roman"/>
                <a:cs typeface="Times New Roman"/>
                <a:sym typeface="Times New Roman"/>
              </a:rPr>
              <a:t>ABSTRACT</a:t>
            </a:r>
            <a:endParaRPr sz="2400" b="1" dirty="0">
              <a:latin typeface="Times New Roman"/>
              <a:ea typeface="Times New Roman"/>
              <a:cs typeface="Times New Roman"/>
              <a:sym typeface="Times New Roman"/>
            </a:endParaRPr>
          </a:p>
        </p:txBody>
      </p:sp>
      <p:sp>
        <p:nvSpPr>
          <p:cNvPr id="154" name="Google Shape;154;p29"/>
          <p:cNvSpPr txBox="1">
            <a:spLocks noGrp="1"/>
          </p:cNvSpPr>
          <p:nvPr>
            <p:ph type="body" idx="1"/>
          </p:nvPr>
        </p:nvSpPr>
        <p:spPr>
          <a:xfrm>
            <a:off x="194125" y="762124"/>
            <a:ext cx="7377900" cy="4312383"/>
          </a:xfrm>
          <a:prstGeom prst="rect">
            <a:avLst/>
          </a:prstGeom>
          <a:noFill/>
          <a:ln>
            <a:noFill/>
          </a:ln>
        </p:spPr>
        <p:txBody>
          <a:bodyPr spcFirstLastPara="1" wrap="square" lIns="91425" tIns="45700" rIns="91425" bIns="45700" anchor="t" anchorCtr="0">
            <a:noAutofit/>
          </a:bodyPr>
          <a:lstStyle/>
          <a:p>
            <a:pPr marL="180975" indent="0" algn="just">
              <a:lnSpc>
                <a:spcPct val="150000"/>
              </a:lnSpc>
              <a:spcBef>
                <a:spcPts val="0"/>
              </a:spcBef>
              <a:buNone/>
            </a:pPr>
            <a:r>
              <a:rPr lang="en-US" sz="1200" dirty="0">
                <a:solidFill>
                  <a:schemeClr val="tx1"/>
                </a:solidFill>
                <a:latin typeface="Times New Roman" panose="02020603050405020304" pitchFamily="18" charset="0"/>
                <a:cs typeface="Times New Roman" panose="02020603050405020304" pitchFamily="18" charset="0"/>
              </a:rPr>
              <a:t>The monitoring of environmental parameters in real time is essential for ensuring healthy and sustainable living conditions. This seminar focuses on the design and implementation of a low-cost, scalable system for real-time environmental parameter display using ESP32. The proposed system integrates multiple sensors, including temperature, humidity, CO₂, and dust particle sensors, to measure critical atmospheric parameters. Data from these sensors is processed by the ESP32 microcontroller and displayed on a local output device such as a 7-segment display, eliminating the need for mobile or cloud-based platforms. The hardware setup consists of DHT11 for temperature and humidity, MQ-135 for CO₂ concentration, and optical dust sensors for particulate matter detection. The simplicity of the ESP32 platform ensures ease of deployment, while the modular design supports </a:t>
            </a:r>
            <a:r>
              <a:rPr lang="en-US" sz="1200" dirty="0" err="1">
                <a:solidFill>
                  <a:schemeClr val="tx1"/>
                </a:solidFill>
                <a:latin typeface="Times New Roman" panose="02020603050405020304" pitchFamily="18" charset="0"/>
                <a:cs typeface="Times New Roman" panose="02020603050405020304" pitchFamily="18" charset="0"/>
              </a:rPr>
              <a:t>customisation</a:t>
            </a:r>
            <a:r>
              <a:rPr lang="en-US" sz="1200" dirty="0">
                <a:solidFill>
                  <a:schemeClr val="tx1"/>
                </a:solidFill>
                <a:latin typeface="Times New Roman" panose="02020603050405020304" pitchFamily="18" charset="0"/>
                <a:cs typeface="Times New Roman" panose="02020603050405020304" pitchFamily="18" charset="0"/>
              </a:rPr>
              <a:t> for a wide range of applications. This work demonstrates that ESP-based systems can provide accurate and reliable monitoring of environmental conditions at low cost, making them highly suitable for laboratories, classrooms, offices, and community spaces. The system serves as a practical solution for real-time monitoring where portability, independence from mobile networks, and cost efficiency are priorities</a:t>
            </a:r>
            <a:r>
              <a:rPr lang="en-US" sz="1200" dirty="0">
                <a:solidFill>
                  <a:schemeClr val="bg1"/>
                </a:solidFill>
                <a:latin typeface="Times New Roman" panose="02020603050405020304" pitchFamily="18" charset="0"/>
                <a:cs typeface="Times New Roman" panose="02020603050405020304" pitchFamily="18" charset="0"/>
              </a:rPr>
              <a:t>.</a:t>
            </a:r>
          </a:p>
          <a:p>
            <a:pPr marL="457200" lvl="0" indent="0" algn="just" rtl="0">
              <a:lnSpc>
                <a:spcPct val="150000"/>
              </a:lnSpc>
              <a:spcBef>
                <a:spcPts val="0"/>
              </a:spcBef>
              <a:spcAft>
                <a:spcPts val="0"/>
              </a:spcAft>
              <a:buNone/>
            </a:pPr>
            <a:endParaRPr lang="en-US" sz="1200"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0"/>
          <p:cNvSpPr txBox="1">
            <a:spLocks noGrp="1"/>
          </p:cNvSpPr>
          <p:nvPr>
            <p:ph type="title"/>
          </p:nvPr>
        </p:nvSpPr>
        <p:spPr>
          <a:xfrm>
            <a:off x="483350" y="0"/>
            <a:ext cx="6827700" cy="6585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3600"/>
              <a:buNone/>
            </a:pPr>
            <a:r>
              <a:rPr lang="en" sz="2400" b="1">
                <a:latin typeface="Times New Roman"/>
                <a:ea typeface="Times New Roman"/>
                <a:cs typeface="Times New Roman"/>
                <a:sym typeface="Times New Roman"/>
              </a:rPr>
              <a:t>INTRODUCTION</a:t>
            </a:r>
            <a:endParaRPr sz="2400" b="1">
              <a:latin typeface="Times New Roman"/>
              <a:ea typeface="Times New Roman"/>
              <a:cs typeface="Times New Roman"/>
              <a:sym typeface="Times New Roman"/>
            </a:endParaRPr>
          </a:p>
        </p:txBody>
      </p:sp>
      <p:sp>
        <p:nvSpPr>
          <p:cNvPr id="161" name="Google Shape;161;p30"/>
          <p:cNvSpPr txBox="1">
            <a:spLocks noGrp="1"/>
          </p:cNvSpPr>
          <p:nvPr>
            <p:ph type="body" idx="1"/>
          </p:nvPr>
        </p:nvSpPr>
        <p:spPr>
          <a:xfrm>
            <a:off x="367575" y="763800"/>
            <a:ext cx="7167000" cy="4379700"/>
          </a:xfrm>
          <a:prstGeom prst="rect">
            <a:avLst/>
          </a:prstGeom>
          <a:noFill/>
          <a:ln>
            <a:noFill/>
          </a:ln>
        </p:spPr>
        <p:txBody>
          <a:bodyPr spcFirstLastPara="1" wrap="square" lIns="91425" tIns="45700" rIns="91425" bIns="45700" anchor="t" anchorCtr="0">
            <a:normAutofit/>
          </a:bodyPr>
          <a:lstStyle/>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Air pollution is the biggest problem of every nation, whether it is developed or developing.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Health problems have been growing at faster rate especially in urban areas of developing countries where industrialization and growing number of vehicles leads to release of a lot of gaseous pollutants.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Harmful effects of pollution include mild allergic reactions such as irritation of the throat, eyes and nose as well as some serious problems like bronchitis, heart diseases, pneumonia, lung and aggravated asthma.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Here to make an Air Pollution Monitoring System in which we will monitor the Air quality and  will trigger an alarm when the air quality goes down beyond a certain level, means when there are sufficient amount of harmful gases are present in the air like CO2, smoke, alcohol ,benzene and NH3.</a:t>
            </a:r>
            <a:r>
              <a:rPr lang="en" sz="1400" dirty="0">
                <a:latin typeface="Times New Roman"/>
                <a:ea typeface="Times New Roman"/>
                <a:cs typeface="Times New Roman"/>
                <a:sym typeface="Times New Roman"/>
              </a:rPr>
              <a:t> </a:t>
            </a:r>
            <a:endParaRPr sz="14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It will show the air quality in PPM on the 4 bit LED so that we can monitor it very easily.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MQ2 sensor which is the best choice for monitoring Air Quality as it can detect most harmful gases and can measure their amount accurately.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When pollution goes beyond some level, it triggers an alert through a buzzer.</a:t>
            </a:r>
            <a:endParaRPr sz="1200" dirty="0">
              <a:latin typeface="Times New Roman"/>
              <a:ea typeface="Times New Roman"/>
              <a:cs typeface="Times New Roman"/>
              <a:sym typeface="Times New Roman"/>
            </a:endParaRPr>
          </a:p>
          <a:p>
            <a:pPr marL="914400" lvl="0" indent="0" algn="just" rtl="0">
              <a:lnSpc>
                <a:spcPct val="150000"/>
              </a:lnSpc>
              <a:spcBef>
                <a:spcPts val="0"/>
              </a:spcBef>
              <a:spcAft>
                <a:spcPts val="0"/>
              </a:spcAft>
              <a:buNone/>
            </a:pPr>
            <a:endParaRPr sz="1200" dirty="0">
              <a:latin typeface="Times New Roman"/>
              <a:ea typeface="Times New Roman"/>
              <a:cs typeface="Times New Roman"/>
              <a:sym typeface="Times New Roman"/>
            </a:endParaRPr>
          </a:p>
          <a:p>
            <a:pPr marL="914400" lvl="0" indent="0" algn="just" rtl="0">
              <a:lnSpc>
                <a:spcPct val="150000"/>
              </a:lnSpc>
              <a:spcBef>
                <a:spcPts val="0"/>
              </a:spcBef>
              <a:spcAft>
                <a:spcPts val="0"/>
              </a:spcAft>
              <a:buNone/>
            </a:pPr>
            <a:endParaRPr sz="1500" b="1" dirty="0">
              <a:latin typeface="Times New Roman"/>
              <a:ea typeface="Times New Roman"/>
              <a:cs typeface="Times New Roman"/>
              <a:sym typeface="Times New Roman"/>
            </a:endParaRPr>
          </a:p>
          <a:p>
            <a:pPr marL="914400" lvl="0" indent="0" algn="just" rtl="0">
              <a:lnSpc>
                <a:spcPct val="150000"/>
              </a:lnSpc>
              <a:spcBef>
                <a:spcPts val="0"/>
              </a:spcBef>
              <a:spcAft>
                <a:spcPts val="0"/>
              </a:spcAft>
              <a:buNone/>
            </a:pPr>
            <a:endParaRPr sz="1200"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1"/>
          <p:cNvSpPr txBox="1">
            <a:spLocks noGrp="1"/>
          </p:cNvSpPr>
          <p:nvPr>
            <p:ph type="title"/>
          </p:nvPr>
        </p:nvSpPr>
        <p:spPr>
          <a:xfrm>
            <a:off x="483343" y="343846"/>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3600"/>
              <a:buNone/>
            </a:pPr>
            <a:r>
              <a:rPr lang="en" sz="2400" b="1" dirty="0">
                <a:latin typeface="Times New Roman"/>
                <a:ea typeface="Times New Roman"/>
                <a:cs typeface="Times New Roman"/>
                <a:sym typeface="Times New Roman"/>
              </a:rPr>
              <a:t>PROBLEM STATEMENT</a:t>
            </a:r>
            <a:endParaRPr sz="2400" b="1" dirty="0">
              <a:latin typeface="Times New Roman"/>
              <a:ea typeface="Times New Roman"/>
              <a:cs typeface="Times New Roman"/>
              <a:sym typeface="Times New Roman"/>
            </a:endParaRPr>
          </a:p>
        </p:txBody>
      </p:sp>
      <p:sp>
        <p:nvSpPr>
          <p:cNvPr id="168" name="Google Shape;168;p31"/>
          <p:cNvSpPr txBox="1">
            <a:spLocks noGrp="1"/>
          </p:cNvSpPr>
          <p:nvPr>
            <p:ph type="body" idx="1"/>
          </p:nvPr>
        </p:nvSpPr>
        <p:spPr>
          <a:xfrm>
            <a:off x="471948" y="1069258"/>
            <a:ext cx="6850500" cy="3619200"/>
          </a:xfrm>
          <a:prstGeom prst="rect">
            <a:avLst/>
          </a:prstGeom>
          <a:noFill/>
          <a:ln>
            <a:noFill/>
          </a:ln>
        </p:spPr>
        <p:txBody>
          <a:bodyPr spcFirstLastPara="1" wrap="square" lIns="91425" tIns="45700" rIns="91425" bIns="45700" anchor="t" anchorCtr="0">
            <a:noAutofit/>
          </a:bodyPr>
          <a:lstStyle/>
          <a:p>
            <a:pPr marL="457200" lvl="0" indent="-304800" algn="just" rtl="0">
              <a:lnSpc>
                <a:spcPct val="150000"/>
              </a:lnSpc>
              <a:spcBef>
                <a:spcPts val="1000"/>
              </a:spcBef>
              <a:spcAft>
                <a:spcPts val="0"/>
              </a:spcAft>
              <a:buSzPts val="1200"/>
              <a:buFont typeface="Times New Roman"/>
              <a:buChar char="●"/>
            </a:pPr>
            <a:r>
              <a:rPr lang="en" sz="1200" dirty="0">
                <a:latin typeface="Times New Roman"/>
                <a:ea typeface="Times New Roman"/>
                <a:cs typeface="Times New Roman"/>
                <a:sym typeface="Times New Roman"/>
              </a:rPr>
              <a:t>Increasing levels of air pollution and environmental imbalance pose serious risks to human health and safety, especially in indoor and industrial environments.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Parameters such as carbon dioxide concentration, dust particles, temperature, and humidity often exceed safe limits without immediate notice, leading to health issues like respiratory problems, discomfort, and reduced productivity.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Conventional monitoring methods are either manual, expensive, or fail to provide real-time alerts, making it difficult to respond promptly to hazardous conditions.</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Therefore, there is a need for a low-cost, real-time embedded system that can continuously monitor critical environmental parameters and provide instant alerts when threshold values are exceeded.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Such a system can help ensure a safer and healthier environment by enabling timely preventive action.</a:t>
            </a:r>
            <a:endParaRPr sz="1200" dirty="0">
              <a:latin typeface="Times New Roman"/>
              <a:ea typeface="Times New Roman"/>
              <a:cs typeface="Times New Roman"/>
              <a:sym typeface="Times New Roman"/>
            </a:endParaRPr>
          </a:p>
          <a:p>
            <a:pPr marL="914400" lvl="0" indent="0" algn="just" rtl="0">
              <a:lnSpc>
                <a:spcPct val="150000"/>
              </a:lnSpc>
              <a:spcBef>
                <a:spcPts val="1000"/>
              </a:spcBef>
              <a:spcAft>
                <a:spcPts val="0"/>
              </a:spcAft>
              <a:buNone/>
            </a:pPr>
            <a:endParaRPr sz="1200" dirty="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FFBC-DAA6-B1C7-7964-7D9F57356E78}"/>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PROPOSED SOLUTION </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43AC52D-4063-E20D-5A24-4D456E9750A7}"/>
              </a:ext>
            </a:extLst>
          </p:cNvPr>
          <p:cNvSpPr>
            <a:spLocks noGrp="1"/>
          </p:cNvSpPr>
          <p:nvPr>
            <p:ph type="body" idx="1"/>
          </p:nvPr>
        </p:nvSpPr>
        <p:spPr>
          <a:xfrm>
            <a:off x="471948" y="1235676"/>
            <a:ext cx="6850625" cy="3452821"/>
          </a:xfrm>
        </p:spPr>
        <p:txBody>
          <a:bodyPr>
            <a:normAutofit/>
          </a:bodyPr>
          <a:lstStyle/>
          <a:p>
            <a:pPr algn="just">
              <a:lnSpc>
                <a:spcPct val="150000"/>
              </a:lnSpc>
            </a:pPr>
            <a:r>
              <a:rPr lang="en-US" sz="1200" dirty="0">
                <a:solidFill>
                  <a:schemeClr val="tx1"/>
                </a:solidFill>
                <a:latin typeface="Times New Roman" panose="02020603050405020304" pitchFamily="18" charset="0"/>
                <a:cs typeface="Times New Roman" panose="02020603050405020304" pitchFamily="18" charset="0"/>
              </a:rPr>
              <a:t>Develop a real-time environmental monitoring system using ESP32 and multiple sensors.</a:t>
            </a:r>
          </a:p>
          <a:p>
            <a:pPr algn="just">
              <a:lnSpc>
                <a:spcPct val="150000"/>
              </a:lnSpc>
            </a:pPr>
            <a:r>
              <a:rPr lang="en-US" sz="1200" dirty="0">
                <a:solidFill>
                  <a:schemeClr val="tx1"/>
                </a:solidFill>
                <a:latin typeface="Times New Roman" panose="02020603050405020304" pitchFamily="18" charset="0"/>
                <a:cs typeface="Times New Roman" panose="02020603050405020304" pitchFamily="18" charset="0"/>
              </a:rPr>
              <a:t>Sensors such as DHT11, MQ-135, and dust sensors collect environmental data.</a:t>
            </a:r>
          </a:p>
          <a:p>
            <a:pPr algn="just">
              <a:lnSpc>
                <a:spcPct val="150000"/>
              </a:lnSpc>
            </a:pPr>
            <a:r>
              <a:rPr lang="en-US" sz="1200" dirty="0">
                <a:solidFill>
                  <a:schemeClr val="tx1"/>
                </a:solidFill>
                <a:latin typeface="Times New Roman" panose="02020603050405020304" pitchFamily="18" charset="0"/>
                <a:cs typeface="Times New Roman" panose="02020603050405020304" pitchFamily="18" charset="0"/>
              </a:rPr>
              <a:t>The ESP32 microcontroller processes the sensor data and converts it into readable values.</a:t>
            </a:r>
          </a:p>
          <a:p>
            <a:pPr algn="just">
              <a:lnSpc>
                <a:spcPct val="150000"/>
              </a:lnSpc>
            </a:pPr>
            <a:r>
              <a:rPr lang="en-US" sz="1200" dirty="0">
                <a:solidFill>
                  <a:schemeClr val="tx1"/>
                </a:solidFill>
                <a:latin typeface="Times New Roman" panose="02020603050405020304" pitchFamily="18" charset="0"/>
                <a:cs typeface="Times New Roman" panose="02020603050405020304" pitchFamily="18" charset="0"/>
              </a:rPr>
              <a:t>The measured parameters are displayed in real time using LCD or display modules.</a:t>
            </a:r>
          </a:p>
          <a:p>
            <a:pPr algn="just">
              <a:lnSpc>
                <a:spcPct val="150000"/>
              </a:lnSpc>
            </a:pPr>
            <a:r>
              <a:rPr lang="en-US" sz="1200" dirty="0">
                <a:solidFill>
                  <a:schemeClr val="tx1"/>
                </a:solidFill>
                <a:latin typeface="Times New Roman" panose="02020603050405020304" pitchFamily="18" charset="0"/>
                <a:cs typeface="Times New Roman" panose="02020603050405020304" pitchFamily="18" charset="0"/>
              </a:rPr>
              <a:t>This system provides a low-cost, flexible, and easy-to-implement solution for monitoring environmental conditions.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0080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2"/>
          <p:cNvSpPr txBox="1">
            <a:spLocks noGrp="1"/>
          </p:cNvSpPr>
          <p:nvPr>
            <p:ph type="title"/>
          </p:nvPr>
        </p:nvSpPr>
        <p:spPr>
          <a:xfrm>
            <a:off x="476818" y="318046"/>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3600"/>
              <a:buNone/>
            </a:pPr>
            <a:r>
              <a:rPr lang="en" sz="2400" b="1" dirty="0">
                <a:latin typeface="Times New Roman"/>
                <a:ea typeface="Times New Roman"/>
                <a:cs typeface="Times New Roman"/>
                <a:sym typeface="Times New Roman"/>
              </a:rPr>
              <a:t>OBJECTIVES</a:t>
            </a:r>
            <a:endParaRPr sz="2400" b="1" dirty="0">
              <a:latin typeface="Times New Roman"/>
              <a:ea typeface="Times New Roman"/>
              <a:cs typeface="Times New Roman"/>
              <a:sym typeface="Times New Roman"/>
            </a:endParaRPr>
          </a:p>
        </p:txBody>
      </p:sp>
      <p:sp>
        <p:nvSpPr>
          <p:cNvPr id="175" name="Google Shape;175;p32"/>
          <p:cNvSpPr txBox="1">
            <a:spLocks noGrp="1"/>
          </p:cNvSpPr>
          <p:nvPr>
            <p:ph type="body" idx="1"/>
          </p:nvPr>
        </p:nvSpPr>
        <p:spPr>
          <a:xfrm>
            <a:off x="471950" y="1069250"/>
            <a:ext cx="5740200" cy="3619200"/>
          </a:xfrm>
          <a:prstGeom prst="rect">
            <a:avLst/>
          </a:prstGeom>
          <a:noFill/>
          <a:ln>
            <a:noFill/>
          </a:ln>
        </p:spPr>
        <p:txBody>
          <a:bodyPr spcFirstLastPara="1" wrap="square" lIns="91425" tIns="45700" rIns="91425" bIns="45700" anchor="t" anchorCtr="0">
            <a:normAutofit/>
          </a:bodyPr>
          <a:lstStyle/>
          <a:p>
            <a:pPr marL="457200" lvl="0" indent="-304800" algn="just" rtl="0">
              <a:lnSpc>
                <a:spcPct val="150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To design and develop an embedded system for real-time monitoring of environmental parameters.</a:t>
            </a:r>
            <a:endParaRPr sz="120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To measure CO₂ concentration and dust particle levels using MQ2 sensors.</a:t>
            </a:r>
            <a:endParaRPr sz="120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To monitor temperature and humidity using the DHT11 sensor.</a:t>
            </a:r>
            <a:endParaRPr sz="120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To process and display sensor data continuously using an ESP32 controller.</a:t>
            </a:r>
            <a:endParaRPr sz="120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To implement a threshold-based alert system using a buzzer for hazardous conditions.</a:t>
            </a:r>
            <a:endParaRPr sz="120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To provide a low-cost and reliable solution for environmental safety monitoring.</a:t>
            </a:r>
            <a:endParaRPr sz="120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To enhance awareness and timely response to unsafe environmental conditions.</a:t>
            </a:r>
            <a:endParaRPr sz="1200">
              <a:latin typeface="Times New Roman"/>
              <a:ea typeface="Times New Roman"/>
              <a:cs typeface="Times New Roman"/>
              <a:sym typeface="Times New Roman"/>
            </a:endParaRPr>
          </a:p>
          <a:p>
            <a:pPr marL="0" lvl="0" indent="0" algn="just" rtl="0">
              <a:lnSpc>
                <a:spcPct val="150000"/>
              </a:lnSpc>
              <a:spcBef>
                <a:spcPts val="0"/>
              </a:spcBef>
              <a:spcAft>
                <a:spcPts val="0"/>
              </a:spcAft>
              <a:buNone/>
            </a:pPr>
            <a:endParaRPr sz="1200">
              <a:latin typeface="Times New Roman"/>
              <a:ea typeface="Times New Roman"/>
              <a:cs typeface="Times New Roman"/>
              <a:sym typeface="Times New Roman"/>
            </a:endParaRPr>
          </a:p>
        </p:txBody>
      </p:sp>
      <p:pic>
        <p:nvPicPr>
          <p:cNvPr id="176" name="Google Shape;176;p32"/>
          <p:cNvPicPr preferRelativeResize="0"/>
          <p:nvPr/>
        </p:nvPicPr>
        <p:blipFill rotWithShape="1">
          <a:blip r:embed="rId3">
            <a:alphaModFix/>
          </a:blip>
          <a:srcRect/>
          <a:stretch/>
        </p:blipFill>
        <p:spPr>
          <a:xfrm>
            <a:off x="6212200" y="217775"/>
            <a:ext cx="2616600" cy="2616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3"/>
          <p:cNvSpPr txBox="1">
            <a:spLocks noGrp="1"/>
          </p:cNvSpPr>
          <p:nvPr>
            <p:ph type="title"/>
          </p:nvPr>
        </p:nvSpPr>
        <p:spPr>
          <a:xfrm>
            <a:off x="491843" y="70271"/>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3600"/>
              <a:buNone/>
            </a:pPr>
            <a:r>
              <a:rPr lang="en" sz="2400" b="1">
                <a:latin typeface="Times New Roman"/>
                <a:ea typeface="Times New Roman"/>
                <a:cs typeface="Times New Roman"/>
                <a:sym typeface="Times New Roman"/>
              </a:rPr>
              <a:t>LITERATURE REVIEW</a:t>
            </a:r>
            <a:endParaRPr sz="2400" b="1">
              <a:latin typeface="Times New Roman"/>
              <a:ea typeface="Times New Roman"/>
              <a:cs typeface="Times New Roman"/>
              <a:sym typeface="Times New Roman"/>
            </a:endParaRPr>
          </a:p>
        </p:txBody>
      </p:sp>
      <p:graphicFrame>
        <p:nvGraphicFramePr>
          <p:cNvPr id="183" name="Google Shape;183;p33"/>
          <p:cNvGraphicFramePr/>
          <p:nvPr/>
        </p:nvGraphicFramePr>
        <p:xfrm>
          <a:off x="108438" y="894565"/>
          <a:ext cx="8469075" cy="3813035"/>
        </p:xfrm>
        <a:graphic>
          <a:graphicData uri="http://schemas.openxmlformats.org/drawingml/2006/table">
            <a:tbl>
              <a:tblPr>
                <a:noFill/>
                <a:tableStyleId>{6059223A-678F-45C3-97FB-D095840F3F83}</a:tableStyleId>
              </a:tblPr>
              <a:tblGrid>
                <a:gridCol w="692275">
                  <a:extLst>
                    <a:ext uri="{9D8B030D-6E8A-4147-A177-3AD203B41FA5}">
                      <a16:colId xmlns:a16="http://schemas.microsoft.com/office/drawing/2014/main" val="20000"/>
                    </a:ext>
                  </a:extLst>
                </a:gridCol>
                <a:gridCol w="1181775">
                  <a:extLst>
                    <a:ext uri="{9D8B030D-6E8A-4147-A177-3AD203B41FA5}">
                      <a16:colId xmlns:a16="http://schemas.microsoft.com/office/drawing/2014/main" val="20001"/>
                    </a:ext>
                  </a:extLst>
                </a:gridCol>
                <a:gridCol w="1572950">
                  <a:extLst>
                    <a:ext uri="{9D8B030D-6E8A-4147-A177-3AD203B41FA5}">
                      <a16:colId xmlns:a16="http://schemas.microsoft.com/office/drawing/2014/main" val="20002"/>
                    </a:ext>
                  </a:extLst>
                </a:gridCol>
                <a:gridCol w="1791600">
                  <a:extLst>
                    <a:ext uri="{9D8B030D-6E8A-4147-A177-3AD203B41FA5}">
                      <a16:colId xmlns:a16="http://schemas.microsoft.com/office/drawing/2014/main" val="20003"/>
                    </a:ext>
                  </a:extLst>
                </a:gridCol>
                <a:gridCol w="3230475">
                  <a:extLst>
                    <a:ext uri="{9D8B030D-6E8A-4147-A177-3AD203B41FA5}">
                      <a16:colId xmlns:a16="http://schemas.microsoft.com/office/drawing/2014/main" val="20004"/>
                    </a:ext>
                  </a:extLst>
                </a:gridCol>
              </a:tblGrid>
              <a:tr h="673650">
                <a:tc>
                  <a:txBody>
                    <a:bodyPr/>
                    <a:lstStyle/>
                    <a:p>
                      <a:pPr marL="0" marR="0" lvl="0" indent="0" algn="ctr" rtl="0">
                        <a:lnSpc>
                          <a:spcPct val="100000"/>
                        </a:lnSpc>
                        <a:spcBef>
                          <a:spcPts val="0"/>
                        </a:spcBef>
                        <a:spcAft>
                          <a:spcPts val="0"/>
                        </a:spcAft>
                        <a:buClr>
                          <a:srgbClr val="000000"/>
                        </a:buClr>
                        <a:buSzPts val="1400"/>
                        <a:buFont typeface="Arial"/>
                        <a:buNone/>
                      </a:pPr>
                      <a:r>
                        <a:rPr lang="en" sz="1200" b="1" u="none" strike="noStrike" cap="none">
                          <a:solidFill>
                            <a:srgbClr val="000000"/>
                          </a:solidFill>
                          <a:latin typeface="Times New Roman"/>
                          <a:ea typeface="Times New Roman"/>
                          <a:cs typeface="Times New Roman"/>
                          <a:sym typeface="Times New Roman"/>
                        </a:rPr>
                        <a:t>SR.NO</a:t>
                      </a:r>
                      <a:endParaRPr sz="1200" b="1"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CCCCCC"/>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b="1" u="none" strike="noStrike" cap="none">
                          <a:solidFill>
                            <a:srgbClr val="000000"/>
                          </a:solidFill>
                          <a:latin typeface="Times New Roman"/>
                          <a:ea typeface="Times New Roman"/>
                          <a:cs typeface="Times New Roman"/>
                          <a:sym typeface="Times New Roman"/>
                        </a:rPr>
                        <a:t>AUTHOR</a:t>
                      </a:r>
                      <a:endParaRPr sz="1200" b="1"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CCCCCC"/>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b="1" u="none" strike="noStrike" cap="none">
                          <a:solidFill>
                            <a:srgbClr val="000000"/>
                          </a:solidFill>
                          <a:latin typeface="Times New Roman"/>
                          <a:ea typeface="Times New Roman"/>
                          <a:cs typeface="Times New Roman"/>
                          <a:sym typeface="Times New Roman"/>
                        </a:rPr>
                        <a:t>TITLE</a:t>
                      </a:r>
                      <a:endParaRPr sz="1200" b="1"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CCCCCC"/>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b="1" u="none" strike="noStrike" cap="none">
                          <a:solidFill>
                            <a:srgbClr val="000000"/>
                          </a:solidFill>
                          <a:latin typeface="Times New Roman"/>
                          <a:ea typeface="Times New Roman"/>
                          <a:cs typeface="Times New Roman"/>
                          <a:sym typeface="Times New Roman"/>
                        </a:rPr>
                        <a:t>JOURNAL</a:t>
                      </a:r>
                      <a:endParaRPr sz="1200" b="1"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CCCCCC"/>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b="1" u="none" strike="noStrike" cap="none">
                          <a:solidFill>
                            <a:srgbClr val="000000"/>
                          </a:solidFill>
                          <a:latin typeface="Times New Roman"/>
                          <a:ea typeface="Times New Roman"/>
                          <a:cs typeface="Times New Roman"/>
                          <a:sym typeface="Times New Roman"/>
                        </a:rPr>
                        <a:t>FINDING</a:t>
                      </a:r>
                      <a:endParaRPr sz="1200" b="1"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1316350">
                <a:tc>
                  <a:txBody>
                    <a:bodyPr/>
                    <a:lstStyle/>
                    <a:p>
                      <a:pPr marL="0" marR="0" lvl="0" indent="0" algn="just" rtl="0">
                        <a:lnSpc>
                          <a:spcPct val="100000"/>
                        </a:lnSpc>
                        <a:spcBef>
                          <a:spcPts val="0"/>
                        </a:spcBef>
                        <a:spcAft>
                          <a:spcPts val="0"/>
                        </a:spcAft>
                        <a:buClr>
                          <a:srgbClr val="000000"/>
                        </a:buClr>
                        <a:buSzPts val="1400"/>
                        <a:buFont typeface="Arial"/>
                        <a:buNone/>
                      </a:pPr>
                      <a:r>
                        <a:rPr lang="en" sz="1200" u="none" strike="noStrike" cap="none">
                          <a:solidFill>
                            <a:srgbClr val="000000"/>
                          </a:solidFill>
                          <a:latin typeface="Times New Roman"/>
                          <a:ea typeface="Times New Roman"/>
                          <a:cs typeface="Times New Roman"/>
                          <a:sym typeface="Times New Roman"/>
                        </a:rPr>
                        <a:t>1</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marR="0" lvl="0" indent="0" algn="just" rtl="0">
                        <a:lnSpc>
                          <a:spcPct val="100000"/>
                        </a:lnSpc>
                        <a:spcBef>
                          <a:spcPts val="0"/>
                        </a:spcBef>
                        <a:spcAft>
                          <a:spcPts val="0"/>
                        </a:spcAft>
                        <a:buClr>
                          <a:srgbClr val="000000"/>
                        </a:buClr>
                        <a:buSzPts val="1100"/>
                        <a:buFont typeface="Arial"/>
                        <a:buNone/>
                      </a:pPr>
                      <a:r>
                        <a:rPr lang="en" sz="1200">
                          <a:solidFill>
                            <a:schemeClr val="dk1"/>
                          </a:solidFill>
                          <a:latin typeface="Times New Roman"/>
                          <a:ea typeface="Times New Roman"/>
                          <a:cs typeface="Times New Roman"/>
                          <a:sym typeface="Times New Roman"/>
                        </a:rPr>
                        <a:t>M. Deepshika</a:t>
                      </a:r>
                      <a:r>
                        <a:rPr lang="en" sz="1200" u="none" strike="noStrike" cap="none">
                          <a:solidFill>
                            <a:srgbClr val="000000"/>
                          </a:solidFill>
                          <a:latin typeface="Times New Roman"/>
                          <a:ea typeface="Times New Roman"/>
                          <a:cs typeface="Times New Roman"/>
                          <a:sym typeface="Times New Roman"/>
                        </a:rPr>
                        <a:t>, et al., </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lvl="0" indent="0" algn="just" rtl="0">
                        <a:lnSpc>
                          <a:spcPct val="100000"/>
                        </a:lnSpc>
                        <a:spcBef>
                          <a:spcPts val="0"/>
                        </a:spcBef>
                        <a:spcAft>
                          <a:spcPts val="1000"/>
                        </a:spcAft>
                        <a:buNone/>
                      </a:pPr>
                      <a:r>
                        <a:rPr lang="en" sz="1200">
                          <a:solidFill>
                            <a:schemeClr val="dk1"/>
                          </a:solidFill>
                          <a:latin typeface="Times New Roman"/>
                          <a:ea typeface="Times New Roman"/>
                          <a:cs typeface="Times New Roman"/>
                          <a:sym typeface="Times New Roman"/>
                        </a:rPr>
                        <a:t>“Real Time Air Quality Monitoring System”</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lvl="0" indent="0" algn="just" rtl="0">
                        <a:lnSpc>
                          <a:spcPct val="100000"/>
                        </a:lnSpc>
                        <a:spcBef>
                          <a:spcPts val="0"/>
                        </a:spcBef>
                        <a:spcAft>
                          <a:spcPts val="1000"/>
                        </a:spcAft>
                        <a:buNone/>
                      </a:pPr>
                      <a:r>
                        <a:rPr lang="en" sz="1200">
                          <a:solidFill>
                            <a:schemeClr val="dk1"/>
                          </a:solidFill>
                          <a:latin typeface="Times New Roman"/>
                          <a:ea typeface="Times New Roman"/>
                          <a:cs typeface="Times New Roman"/>
                          <a:sym typeface="Times New Roman"/>
                        </a:rPr>
                        <a:t>Anil Neerukonda Institute Of Technology And Sciences. 2021.</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marR="0" lvl="0" indent="0" algn="just" rtl="0">
                        <a:lnSpc>
                          <a:spcPct val="100000"/>
                        </a:lnSpc>
                        <a:spcBef>
                          <a:spcPts val="0"/>
                        </a:spcBef>
                        <a:spcAft>
                          <a:spcPts val="0"/>
                        </a:spcAft>
                        <a:buClr>
                          <a:srgbClr val="000000"/>
                        </a:buClr>
                        <a:buSzPts val="1200"/>
                        <a:buFont typeface="Arial"/>
                        <a:buNone/>
                      </a:pPr>
                      <a:r>
                        <a:rPr lang="en" sz="1200" u="none" strike="noStrike" cap="none">
                          <a:solidFill>
                            <a:srgbClr val="000000"/>
                          </a:solidFill>
                          <a:latin typeface="Times New Roman"/>
                          <a:ea typeface="Times New Roman"/>
                          <a:cs typeface="Times New Roman"/>
                          <a:sym typeface="Times New Roman"/>
                        </a:rPr>
                        <a:t>They</a:t>
                      </a:r>
                      <a:r>
                        <a:rPr lang="en" sz="1200">
                          <a:latin typeface="Times New Roman"/>
                          <a:ea typeface="Times New Roman"/>
                          <a:cs typeface="Times New Roman"/>
                          <a:sym typeface="Times New Roman"/>
                        </a:rPr>
                        <a:t> </a:t>
                      </a:r>
                      <a:r>
                        <a:rPr lang="en" sz="1200" u="none" strike="noStrike" cap="none">
                          <a:solidFill>
                            <a:srgbClr val="000000"/>
                          </a:solidFill>
                          <a:latin typeface="Times New Roman"/>
                          <a:ea typeface="Times New Roman"/>
                          <a:cs typeface="Times New Roman"/>
                          <a:sym typeface="Times New Roman"/>
                        </a:rPr>
                        <a:t>studies commonly utilize embedded systems and IoT-based platforms with microcontrollers such as Arduino and ESP modules integrated with MQ series gas sensors to detect harmful gases like CO₂, CO, and other air pollutants.</a:t>
                      </a:r>
                      <a:endParaRPr sz="120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200"/>
                        <a:buFont typeface="Arial"/>
                        <a:buNone/>
                      </a:pPr>
                      <a:endParaRPr sz="1200">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extLst>
                  <a:ext uri="{0D108BD9-81ED-4DB2-BD59-A6C34878D82A}">
                    <a16:rowId xmlns:a16="http://schemas.microsoft.com/office/drawing/2014/main" val="10001"/>
                  </a:ext>
                </a:extLst>
              </a:tr>
              <a:tr h="1676375">
                <a:tc>
                  <a:txBody>
                    <a:bodyPr/>
                    <a:lstStyle/>
                    <a:p>
                      <a:pPr marL="0" marR="0" lvl="0" indent="0" algn="just" rtl="0">
                        <a:lnSpc>
                          <a:spcPct val="100000"/>
                        </a:lnSpc>
                        <a:spcBef>
                          <a:spcPts val="0"/>
                        </a:spcBef>
                        <a:spcAft>
                          <a:spcPts val="0"/>
                        </a:spcAft>
                        <a:buClr>
                          <a:srgbClr val="000000"/>
                        </a:buClr>
                        <a:buSzPts val="1400"/>
                        <a:buFont typeface="Arial"/>
                        <a:buNone/>
                      </a:pPr>
                      <a:r>
                        <a:rPr lang="en" sz="1200" u="none" strike="noStrike" cap="none">
                          <a:solidFill>
                            <a:srgbClr val="000000"/>
                          </a:solidFill>
                          <a:latin typeface="Times New Roman"/>
                          <a:ea typeface="Times New Roman"/>
                          <a:cs typeface="Times New Roman"/>
                          <a:sym typeface="Times New Roman"/>
                        </a:rPr>
                        <a:t>2</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marR="0" lvl="0" indent="0" algn="just" rtl="0">
                        <a:lnSpc>
                          <a:spcPct val="100000"/>
                        </a:lnSpc>
                        <a:spcBef>
                          <a:spcPts val="0"/>
                        </a:spcBef>
                        <a:spcAft>
                          <a:spcPts val="0"/>
                        </a:spcAft>
                        <a:buClr>
                          <a:srgbClr val="000000"/>
                        </a:buClr>
                        <a:buSzPts val="1100"/>
                        <a:buFont typeface="Arial"/>
                        <a:buNone/>
                      </a:pPr>
                      <a:r>
                        <a:rPr lang="en" sz="1200">
                          <a:solidFill>
                            <a:schemeClr val="dk1"/>
                          </a:solidFill>
                          <a:latin typeface="Times New Roman"/>
                          <a:ea typeface="Times New Roman"/>
                          <a:cs typeface="Times New Roman"/>
                          <a:sym typeface="Times New Roman"/>
                        </a:rPr>
                        <a:t>Thanushree D</a:t>
                      </a:r>
                      <a:r>
                        <a:rPr lang="en" sz="1200" u="none" strike="noStrike" cap="none">
                          <a:solidFill>
                            <a:srgbClr val="000000"/>
                          </a:solidFill>
                          <a:latin typeface="Times New Roman"/>
                          <a:ea typeface="Times New Roman"/>
                          <a:cs typeface="Times New Roman"/>
                          <a:sym typeface="Times New Roman"/>
                        </a:rPr>
                        <a:t>, et al., </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lvl="0" indent="0" algn="just" rtl="0">
                        <a:lnSpc>
                          <a:spcPct val="100000"/>
                        </a:lnSpc>
                        <a:spcBef>
                          <a:spcPts val="0"/>
                        </a:spcBef>
                        <a:spcAft>
                          <a:spcPts val="1000"/>
                        </a:spcAft>
                        <a:buNone/>
                      </a:pPr>
                      <a:r>
                        <a:rPr lang="en" sz="1200">
                          <a:solidFill>
                            <a:schemeClr val="dk1"/>
                          </a:solidFill>
                          <a:latin typeface="Times New Roman"/>
                          <a:ea typeface="Times New Roman"/>
                          <a:cs typeface="Times New Roman"/>
                          <a:sym typeface="Times New Roman"/>
                        </a:rPr>
                        <a:t>“Air Quality Detection using Embedded Systems”</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lvl="0" indent="0" algn="just" rtl="0">
                        <a:lnSpc>
                          <a:spcPct val="100000"/>
                        </a:lnSpc>
                        <a:spcBef>
                          <a:spcPts val="0"/>
                        </a:spcBef>
                        <a:spcAft>
                          <a:spcPts val="1000"/>
                        </a:spcAft>
                        <a:buNone/>
                      </a:pPr>
                      <a:r>
                        <a:rPr lang="en" sz="1200">
                          <a:solidFill>
                            <a:schemeClr val="dk1"/>
                          </a:solidFill>
                          <a:latin typeface="Times New Roman"/>
                          <a:ea typeface="Times New Roman"/>
                          <a:cs typeface="Times New Roman"/>
                          <a:sym typeface="Times New Roman"/>
                        </a:rPr>
                        <a:t>International Journal of Advanced Research in Computer and Communication Engineering Vol. 10, Issue 7, July 2021</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marR="0" lvl="0" indent="0" algn="just" rtl="0">
                        <a:lnSpc>
                          <a:spcPct val="100000"/>
                        </a:lnSpc>
                        <a:spcBef>
                          <a:spcPts val="0"/>
                        </a:spcBef>
                        <a:spcAft>
                          <a:spcPts val="0"/>
                        </a:spcAft>
                        <a:buClr>
                          <a:srgbClr val="000000"/>
                        </a:buClr>
                        <a:buSzPts val="1100"/>
                        <a:buFont typeface="Arial"/>
                        <a:buNone/>
                      </a:pPr>
                      <a:r>
                        <a:rPr lang="en" sz="1200" u="none" strike="noStrike" cap="none">
                          <a:solidFill>
                            <a:srgbClr val="000000"/>
                          </a:solidFill>
                          <a:latin typeface="Times New Roman"/>
                          <a:ea typeface="Times New Roman"/>
                          <a:cs typeface="Times New Roman"/>
                          <a:sym typeface="Times New Roman"/>
                        </a:rPr>
                        <a:t>They presented an air quality detection system using embedded technology aimed at monitoring environmental pollution in real time.</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graphicFrame>
        <p:nvGraphicFramePr>
          <p:cNvPr id="189" name="Google Shape;189;p34"/>
          <p:cNvGraphicFramePr/>
          <p:nvPr/>
        </p:nvGraphicFramePr>
        <p:xfrm>
          <a:off x="383913" y="415901"/>
          <a:ext cx="8376175" cy="4311675"/>
        </p:xfrm>
        <a:graphic>
          <a:graphicData uri="http://schemas.openxmlformats.org/drawingml/2006/table">
            <a:tbl>
              <a:tblPr>
                <a:noFill/>
                <a:tableStyleId>{6059223A-678F-45C3-97FB-D095840F3F83}</a:tableStyleId>
              </a:tblPr>
              <a:tblGrid>
                <a:gridCol w="425300">
                  <a:extLst>
                    <a:ext uri="{9D8B030D-6E8A-4147-A177-3AD203B41FA5}">
                      <a16:colId xmlns:a16="http://schemas.microsoft.com/office/drawing/2014/main" val="20000"/>
                    </a:ext>
                  </a:extLst>
                </a:gridCol>
                <a:gridCol w="1426400">
                  <a:extLst>
                    <a:ext uri="{9D8B030D-6E8A-4147-A177-3AD203B41FA5}">
                      <a16:colId xmlns:a16="http://schemas.microsoft.com/office/drawing/2014/main" val="20001"/>
                    </a:ext>
                  </a:extLst>
                </a:gridCol>
                <a:gridCol w="1857725">
                  <a:extLst>
                    <a:ext uri="{9D8B030D-6E8A-4147-A177-3AD203B41FA5}">
                      <a16:colId xmlns:a16="http://schemas.microsoft.com/office/drawing/2014/main" val="20002"/>
                    </a:ext>
                  </a:extLst>
                </a:gridCol>
                <a:gridCol w="1834500">
                  <a:extLst>
                    <a:ext uri="{9D8B030D-6E8A-4147-A177-3AD203B41FA5}">
                      <a16:colId xmlns:a16="http://schemas.microsoft.com/office/drawing/2014/main" val="20003"/>
                    </a:ext>
                  </a:extLst>
                </a:gridCol>
                <a:gridCol w="2832250">
                  <a:extLst>
                    <a:ext uri="{9D8B030D-6E8A-4147-A177-3AD203B41FA5}">
                      <a16:colId xmlns:a16="http://schemas.microsoft.com/office/drawing/2014/main" val="20004"/>
                    </a:ext>
                  </a:extLst>
                </a:gridCol>
              </a:tblGrid>
              <a:tr h="1329750">
                <a:tc>
                  <a:txBody>
                    <a:bodyPr/>
                    <a:lstStyle/>
                    <a:p>
                      <a:pPr marL="0" marR="0" lvl="0" indent="0" algn="just" rtl="0">
                        <a:lnSpc>
                          <a:spcPct val="100000"/>
                        </a:lnSpc>
                        <a:spcBef>
                          <a:spcPts val="0"/>
                        </a:spcBef>
                        <a:spcAft>
                          <a:spcPts val="0"/>
                        </a:spcAft>
                        <a:buClr>
                          <a:srgbClr val="000000"/>
                        </a:buClr>
                        <a:buSzPts val="1400"/>
                        <a:buFont typeface="Arial"/>
                        <a:buNone/>
                      </a:pPr>
                      <a:r>
                        <a:rPr lang="en" sz="1200" u="none" strike="noStrike" cap="none">
                          <a:solidFill>
                            <a:srgbClr val="000000"/>
                          </a:solidFill>
                          <a:latin typeface="Times New Roman"/>
                          <a:ea typeface="Times New Roman"/>
                          <a:cs typeface="Times New Roman"/>
                          <a:sym typeface="Times New Roman"/>
                        </a:rPr>
                        <a:t>3</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marR="0" lvl="0" indent="0" algn="just" rtl="0">
                        <a:lnSpc>
                          <a:spcPct val="100000"/>
                        </a:lnSpc>
                        <a:spcBef>
                          <a:spcPts val="0"/>
                        </a:spcBef>
                        <a:spcAft>
                          <a:spcPts val="0"/>
                        </a:spcAft>
                        <a:buClr>
                          <a:srgbClr val="000000"/>
                        </a:buClr>
                        <a:buSzPts val="1100"/>
                        <a:buFont typeface="Arial"/>
                        <a:buNone/>
                      </a:pPr>
                      <a:r>
                        <a:rPr lang="en" sz="1200">
                          <a:solidFill>
                            <a:schemeClr val="dk1"/>
                          </a:solidFill>
                          <a:latin typeface="Times New Roman"/>
                          <a:ea typeface="Times New Roman"/>
                          <a:cs typeface="Times New Roman"/>
                          <a:sym typeface="Times New Roman"/>
                        </a:rPr>
                        <a:t>Yeshvant.Ba</a:t>
                      </a:r>
                      <a:r>
                        <a:rPr lang="en" sz="1200" u="none" strike="noStrike" cap="none">
                          <a:solidFill>
                            <a:srgbClr val="000000"/>
                          </a:solidFill>
                          <a:latin typeface="Times New Roman"/>
                          <a:ea typeface="Times New Roman"/>
                          <a:cs typeface="Times New Roman"/>
                          <a:sym typeface="Times New Roman"/>
                        </a:rPr>
                        <a:t>, et al., </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lvl="0" indent="0" algn="just" rtl="0">
                        <a:lnSpc>
                          <a:spcPct val="100000"/>
                        </a:lnSpc>
                        <a:spcBef>
                          <a:spcPts val="0"/>
                        </a:spcBef>
                        <a:spcAft>
                          <a:spcPts val="1000"/>
                        </a:spcAft>
                        <a:buNone/>
                      </a:pPr>
                      <a:r>
                        <a:rPr lang="en" sz="1200">
                          <a:solidFill>
                            <a:schemeClr val="dk1"/>
                          </a:solidFill>
                          <a:latin typeface="Times New Roman"/>
                          <a:ea typeface="Times New Roman"/>
                          <a:cs typeface="Times New Roman"/>
                          <a:sym typeface="Times New Roman"/>
                        </a:rPr>
                        <a:t>“Real Time Temperature And Humidity Monitoring System”</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lvl="0" indent="0" algn="just"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Student Journal of Electrical and Electronics Engineering Issue No. 1, Vol. 1, 2022.</a:t>
                      </a:r>
                      <a:endParaRPr sz="120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1000"/>
                        </a:spcBef>
                        <a:spcAft>
                          <a:spcPts val="0"/>
                        </a:spcAft>
                        <a:buClr>
                          <a:srgbClr val="000000"/>
                        </a:buClr>
                        <a:buSzPts val="1200"/>
                        <a:buFont typeface="Arial"/>
                        <a:buNone/>
                      </a:pP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marR="0" lvl="0" indent="0" algn="just" rtl="0">
                        <a:lnSpc>
                          <a:spcPct val="100000"/>
                        </a:lnSpc>
                        <a:spcBef>
                          <a:spcPts val="0"/>
                        </a:spcBef>
                        <a:spcAft>
                          <a:spcPts val="0"/>
                        </a:spcAft>
                        <a:buClr>
                          <a:srgbClr val="000000"/>
                        </a:buClr>
                        <a:buSzPts val="1100"/>
                        <a:buFont typeface="Arial"/>
                        <a:buNone/>
                      </a:pPr>
                      <a:r>
                        <a:rPr lang="en" sz="1200" u="none" strike="noStrike" cap="none">
                          <a:solidFill>
                            <a:srgbClr val="000000"/>
                          </a:solidFill>
                          <a:latin typeface="Times New Roman"/>
                          <a:ea typeface="Times New Roman"/>
                          <a:cs typeface="Times New Roman"/>
                          <a:sym typeface="Times New Roman"/>
                        </a:rPr>
                        <a:t>They presented a real-time temperature and humidity monitoring system using embedded system technology to continuously observe environmental conditions. </a:t>
                      </a:r>
                      <a:r>
                        <a:rPr lang="en">
                          <a:solidFill>
                            <a:schemeClr val="dk1"/>
                          </a:solidFill>
                          <a:latin typeface="Times New Roman"/>
                          <a:ea typeface="Times New Roman"/>
                          <a:cs typeface="Times New Roman"/>
                          <a:sym typeface="Times New Roman"/>
                        </a:rPr>
                        <a:t> </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extLst>
                  <a:ext uri="{0D108BD9-81ED-4DB2-BD59-A6C34878D82A}">
                    <a16:rowId xmlns:a16="http://schemas.microsoft.com/office/drawing/2014/main" val="10000"/>
                  </a:ext>
                </a:extLst>
              </a:tr>
              <a:tr h="1256000">
                <a:tc>
                  <a:txBody>
                    <a:bodyPr/>
                    <a:lstStyle/>
                    <a:p>
                      <a:pPr marL="0" marR="0" lvl="0" indent="0" algn="just" rtl="0">
                        <a:lnSpc>
                          <a:spcPct val="100000"/>
                        </a:lnSpc>
                        <a:spcBef>
                          <a:spcPts val="0"/>
                        </a:spcBef>
                        <a:spcAft>
                          <a:spcPts val="0"/>
                        </a:spcAft>
                        <a:buClr>
                          <a:srgbClr val="000000"/>
                        </a:buClr>
                        <a:buSzPts val="1400"/>
                        <a:buFont typeface="Arial"/>
                        <a:buNone/>
                      </a:pPr>
                      <a:r>
                        <a:rPr lang="en" sz="1200" u="none" strike="noStrike" cap="none">
                          <a:solidFill>
                            <a:srgbClr val="000000"/>
                          </a:solidFill>
                          <a:latin typeface="Times New Roman"/>
                          <a:ea typeface="Times New Roman"/>
                          <a:cs typeface="Times New Roman"/>
                          <a:sym typeface="Times New Roman"/>
                        </a:rPr>
                        <a:t>4</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marR="0" lvl="0" indent="0" algn="just" rtl="0">
                        <a:lnSpc>
                          <a:spcPct val="100000"/>
                        </a:lnSpc>
                        <a:spcBef>
                          <a:spcPts val="0"/>
                        </a:spcBef>
                        <a:spcAft>
                          <a:spcPts val="0"/>
                        </a:spcAft>
                        <a:buClr>
                          <a:srgbClr val="000000"/>
                        </a:buClr>
                        <a:buSzPts val="1100"/>
                        <a:buFont typeface="Arial"/>
                        <a:buNone/>
                      </a:pPr>
                      <a:r>
                        <a:rPr lang="en" sz="1200">
                          <a:solidFill>
                            <a:schemeClr val="dk1"/>
                          </a:solidFill>
                          <a:latin typeface="Times New Roman"/>
                          <a:ea typeface="Times New Roman"/>
                          <a:cs typeface="Times New Roman"/>
                          <a:sym typeface="Times New Roman"/>
                        </a:rPr>
                        <a:t>Fatima Khan</a:t>
                      </a:r>
                      <a:r>
                        <a:rPr lang="en" sz="1200" u="none" strike="noStrike" cap="none">
                          <a:solidFill>
                            <a:srgbClr val="000000"/>
                          </a:solidFill>
                          <a:latin typeface="Times New Roman"/>
                          <a:ea typeface="Times New Roman"/>
                          <a:cs typeface="Times New Roman"/>
                          <a:sym typeface="Times New Roman"/>
                        </a:rPr>
                        <a:t>, et al., </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lvl="0" indent="0" algn="just" rtl="0">
                        <a:lnSpc>
                          <a:spcPct val="100000"/>
                        </a:lnSpc>
                        <a:spcBef>
                          <a:spcPts val="0"/>
                        </a:spcBef>
                        <a:spcAft>
                          <a:spcPts val="1000"/>
                        </a:spcAft>
                        <a:buNone/>
                      </a:pPr>
                      <a:r>
                        <a:rPr lang="en" sz="1200">
                          <a:solidFill>
                            <a:schemeClr val="dk1"/>
                          </a:solidFill>
                          <a:latin typeface="Times New Roman"/>
                          <a:ea typeface="Times New Roman"/>
                          <a:cs typeface="Times New Roman"/>
                          <a:sym typeface="Times New Roman"/>
                        </a:rPr>
                        <a:t>“IoT-Driven Pollution Detection System for Indoor and Outdoor Environments</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lvl="0" indent="0" algn="just" rtl="0">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Tech science Press. </a:t>
                      </a:r>
                      <a:r>
                        <a:rPr lang="en" sz="1200">
                          <a:solidFill>
                            <a:schemeClr val="dk1"/>
                          </a:solidFill>
                          <a:uFill>
                            <a:noFill/>
                          </a:u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Volume 86, Issue 2</a:t>
                      </a:r>
                      <a:r>
                        <a:rPr lang="en" sz="1200">
                          <a:solidFill>
                            <a:schemeClr val="dk1"/>
                          </a:solidFill>
                          <a:latin typeface="Times New Roman"/>
                          <a:ea typeface="Times New Roman"/>
                          <a:cs typeface="Times New Roman"/>
                          <a:sym typeface="Times New Roman"/>
                        </a:rPr>
                        <a:t>, 9 December 2025. </a:t>
                      </a:r>
                      <a:endParaRPr sz="1200">
                        <a:solidFill>
                          <a:schemeClr val="dk1"/>
                        </a:solidFill>
                        <a:latin typeface="Times New Roman"/>
                        <a:ea typeface="Times New Roman"/>
                        <a:cs typeface="Times New Roman"/>
                        <a:sym typeface="Times New Roman"/>
                      </a:endParaRPr>
                    </a:p>
                    <a:p>
                      <a:pPr marL="0" marR="0" lvl="0" indent="0" algn="just" rtl="0">
                        <a:lnSpc>
                          <a:spcPct val="100000"/>
                        </a:lnSpc>
                        <a:spcBef>
                          <a:spcPts val="1000"/>
                        </a:spcBef>
                        <a:spcAft>
                          <a:spcPts val="0"/>
                        </a:spcAft>
                        <a:buClr>
                          <a:srgbClr val="000000"/>
                        </a:buClr>
                        <a:buSzPts val="1200"/>
                        <a:buFont typeface="Arial"/>
                        <a:buNone/>
                      </a:pPr>
                      <a:endParaRPr sz="1200">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marR="0" lvl="0" indent="0" algn="just" rtl="0">
                        <a:lnSpc>
                          <a:spcPct val="100000"/>
                        </a:lnSpc>
                        <a:spcBef>
                          <a:spcPts val="0"/>
                        </a:spcBef>
                        <a:spcAft>
                          <a:spcPts val="0"/>
                        </a:spcAft>
                        <a:buClr>
                          <a:srgbClr val="000000"/>
                        </a:buClr>
                        <a:buSzPts val="1100"/>
                        <a:buFont typeface="Arial"/>
                        <a:buNone/>
                      </a:pPr>
                      <a:r>
                        <a:rPr lang="en" sz="1200" u="none" strike="noStrike" cap="none">
                          <a:solidFill>
                            <a:srgbClr val="000000"/>
                          </a:solidFill>
                          <a:latin typeface="Times New Roman"/>
                          <a:ea typeface="Times New Roman"/>
                          <a:cs typeface="Times New Roman"/>
                          <a:sym typeface="Times New Roman"/>
                        </a:rPr>
                        <a:t>They proposed an IoT-driven pollution detection system designed to monitor air quality in both indoor and outdoor environments using smart sensing and internet connectivity.</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extLst>
                  <a:ext uri="{0D108BD9-81ED-4DB2-BD59-A6C34878D82A}">
                    <a16:rowId xmlns:a16="http://schemas.microsoft.com/office/drawing/2014/main" val="10001"/>
                  </a:ext>
                </a:extLst>
              </a:tr>
              <a:tr h="1725925">
                <a:tc>
                  <a:txBody>
                    <a:bodyPr/>
                    <a:lstStyle/>
                    <a:p>
                      <a:pPr marL="0" marR="0" lvl="0" indent="0" algn="just" rtl="0">
                        <a:lnSpc>
                          <a:spcPct val="100000"/>
                        </a:lnSpc>
                        <a:spcBef>
                          <a:spcPts val="0"/>
                        </a:spcBef>
                        <a:spcAft>
                          <a:spcPts val="0"/>
                        </a:spcAft>
                        <a:buClr>
                          <a:srgbClr val="000000"/>
                        </a:buClr>
                        <a:buSzPts val="1400"/>
                        <a:buFont typeface="Arial"/>
                        <a:buNone/>
                      </a:pPr>
                      <a:r>
                        <a:rPr lang="en" sz="1200" u="none" strike="noStrike" cap="none">
                          <a:solidFill>
                            <a:srgbClr val="000000"/>
                          </a:solidFill>
                          <a:latin typeface="Times New Roman"/>
                          <a:ea typeface="Times New Roman"/>
                          <a:cs typeface="Times New Roman"/>
                          <a:sym typeface="Times New Roman"/>
                        </a:rPr>
                        <a:t>5</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marR="0" lvl="0" indent="0" algn="just" rtl="0">
                        <a:lnSpc>
                          <a:spcPct val="100000"/>
                        </a:lnSpc>
                        <a:spcBef>
                          <a:spcPts val="0"/>
                        </a:spcBef>
                        <a:spcAft>
                          <a:spcPts val="0"/>
                        </a:spcAft>
                        <a:buClr>
                          <a:srgbClr val="000000"/>
                        </a:buClr>
                        <a:buSzPts val="1100"/>
                        <a:buFont typeface="Arial"/>
                        <a:buNone/>
                      </a:pPr>
                      <a:r>
                        <a:rPr lang="en" sz="1200">
                          <a:solidFill>
                            <a:schemeClr val="dk1"/>
                          </a:solidFill>
                          <a:latin typeface="Times New Roman"/>
                          <a:ea typeface="Times New Roman"/>
                          <a:cs typeface="Times New Roman"/>
                          <a:sym typeface="Times New Roman"/>
                        </a:rPr>
                        <a:t>Osama Alsamrai</a:t>
                      </a:r>
                      <a:r>
                        <a:rPr lang="en" sz="1200" u="none" strike="noStrike" cap="none">
                          <a:solidFill>
                            <a:srgbClr val="000000"/>
                          </a:solidFill>
                          <a:latin typeface="Times New Roman"/>
                          <a:ea typeface="Times New Roman"/>
                          <a:cs typeface="Times New Roman"/>
                          <a:sym typeface="Times New Roman"/>
                        </a:rPr>
                        <a:t>, et al., </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lvl="0" indent="0" algn="just" rtl="0">
                        <a:lnSpc>
                          <a:spcPct val="100000"/>
                        </a:lnSpc>
                        <a:spcBef>
                          <a:spcPts val="0"/>
                        </a:spcBef>
                        <a:spcAft>
                          <a:spcPts val="1000"/>
                        </a:spcAft>
                        <a:buNone/>
                      </a:pPr>
                      <a:r>
                        <a:rPr lang="en" sz="1200">
                          <a:solidFill>
                            <a:schemeClr val="dk1"/>
                          </a:solidFill>
                          <a:latin typeface="Times New Roman"/>
                          <a:ea typeface="Times New Roman"/>
                          <a:cs typeface="Times New Roman"/>
                          <a:sym typeface="Times New Roman"/>
                        </a:rPr>
                        <a:t>“Real-Time Intelligent Monitoring of Outdoor Air Quality in an Urban Environment Using IoT and Machine Learning Algorithms”</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lvl="0" indent="0" algn="just" rtl="0">
                        <a:lnSpc>
                          <a:spcPct val="100000"/>
                        </a:lnSpc>
                        <a:spcBef>
                          <a:spcPts val="0"/>
                        </a:spcBef>
                        <a:spcAft>
                          <a:spcPts val="1000"/>
                        </a:spcAft>
                        <a:buNone/>
                      </a:pPr>
                      <a:r>
                        <a:rPr lang="en" sz="1200">
                          <a:solidFill>
                            <a:schemeClr val="dk1"/>
                          </a:solidFill>
                          <a:latin typeface="Times New Roman"/>
                          <a:ea typeface="Times New Roman"/>
                          <a:cs typeface="Times New Roman"/>
                          <a:sym typeface="Times New Roman"/>
                        </a:rPr>
                        <a:t>Appl. Sci. 2025. </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tc>
                  <a:txBody>
                    <a:bodyPr/>
                    <a:lstStyle/>
                    <a:p>
                      <a:pPr marL="0" marR="0" lvl="0" indent="0" algn="just" rtl="0">
                        <a:lnSpc>
                          <a:spcPct val="100000"/>
                        </a:lnSpc>
                        <a:spcBef>
                          <a:spcPts val="0"/>
                        </a:spcBef>
                        <a:spcAft>
                          <a:spcPts val="0"/>
                        </a:spcAft>
                        <a:buClr>
                          <a:srgbClr val="000000"/>
                        </a:buClr>
                        <a:buSzPts val="1100"/>
                        <a:buFont typeface="Arial"/>
                        <a:buNone/>
                      </a:pPr>
                      <a:r>
                        <a:rPr lang="en" sz="1200" u="none" strike="noStrike" cap="none">
                          <a:solidFill>
                            <a:srgbClr val="000000"/>
                          </a:solidFill>
                          <a:latin typeface="Times New Roman"/>
                          <a:ea typeface="Times New Roman"/>
                          <a:cs typeface="Times New Roman"/>
                          <a:sym typeface="Times New Roman"/>
                        </a:rPr>
                        <a:t>They proposed a real-time intelligent air quality monitoring system for urban environments by combining IoT sensing technology with machine learning algorithms.</a:t>
                      </a:r>
                      <a:endParaRPr sz="1200" u="none" strike="noStrike" cap="none">
                        <a:solidFill>
                          <a:srgbClr val="000000"/>
                        </a:solidFill>
                        <a:latin typeface="Times New Roman"/>
                        <a:ea typeface="Times New Roman"/>
                        <a:cs typeface="Times New Roman"/>
                        <a:sym typeface="Times New Roman"/>
                      </a:endParaRPr>
                    </a:p>
                  </a:txBody>
                  <a:tcPr marL="91425" marR="91425" marT="91425" marB="91425">
                    <a:lnL w="28575" cap="flat" cmpd="sng">
                      <a:solidFill>
                        <a:srgbClr val="3D85C6"/>
                      </a:solidFill>
                      <a:prstDash val="solid"/>
                      <a:round/>
                      <a:headEnd type="none" w="sm" len="sm"/>
                      <a:tailEnd type="none" w="sm" len="sm"/>
                    </a:lnL>
                    <a:lnR w="28575" cap="flat" cmpd="sng">
                      <a:solidFill>
                        <a:srgbClr val="3D85C6"/>
                      </a:solidFill>
                      <a:prstDash val="solid"/>
                      <a:round/>
                      <a:headEnd type="none" w="sm" len="sm"/>
                      <a:tailEnd type="none" w="sm" len="sm"/>
                    </a:lnR>
                    <a:lnT w="28575" cap="flat" cmpd="sng">
                      <a:solidFill>
                        <a:srgbClr val="3D85C6"/>
                      </a:solidFill>
                      <a:prstDash val="solid"/>
                      <a:round/>
                      <a:headEnd type="none" w="sm" len="sm"/>
                      <a:tailEnd type="none" w="sm" len="sm"/>
                    </a:lnT>
                    <a:lnB w="28575" cap="flat" cmpd="sng">
                      <a:solidFill>
                        <a:srgbClr val="3D85C6"/>
                      </a:solidFill>
                      <a:prstDash val="solid"/>
                      <a:round/>
                      <a:headEnd type="none" w="sm" len="sm"/>
                      <a:tailEnd type="none" w="sm" len="sm"/>
                    </a:lnB>
                    <a:solidFill>
                      <a:srgbClr val="EFEFE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5"/>
          <p:cNvSpPr txBox="1">
            <a:spLocks noGrp="1"/>
          </p:cNvSpPr>
          <p:nvPr>
            <p:ph type="title"/>
          </p:nvPr>
        </p:nvSpPr>
        <p:spPr>
          <a:xfrm>
            <a:off x="445793" y="-4"/>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3600"/>
              <a:buNone/>
            </a:pPr>
            <a:r>
              <a:rPr lang="en" sz="2400" b="1">
                <a:latin typeface="Times New Roman"/>
                <a:ea typeface="Times New Roman"/>
                <a:cs typeface="Times New Roman"/>
                <a:sym typeface="Times New Roman"/>
              </a:rPr>
              <a:t>RESEARCH METHODOLOGY</a:t>
            </a:r>
            <a:endParaRPr sz="2400" b="1">
              <a:latin typeface="Times New Roman"/>
              <a:ea typeface="Times New Roman"/>
              <a:cs typeface="Times New Roman"/>
              <a:sym typeface="Times New Roman"/>
            </a:endParaRPr>
          </a:p>
        </p:txBody>
      </p:sp>
      <p:sp>
        <p:nvSpPr>
          <p:cNvPr id="196" name="Google Shape;196;p35"/>
          <p:cNvSpPr txBox="1">
            <a:spLocks noGrp="1"/>
          </p:cNvSpPr>
          <p:nvPr>
            <p:ph type="body" idx="1"/>
          </p:nvPr>
        </p:nvSpPr>
        <p:spPr>
          <a:xfrm>
            <a:off x="387179" y="650789"/>
            <a:ext cx="7208108" cy="4324865"/>
          </a:xfrm>
          <a:prstGeom prst="rect">
            <a:avLst/>
          </a:prstGeom>
          <a:noFill/>
          <a:ln>
            <a:noFill/>
          </a:ln>
        </p:spPr>
        <p:txBody>
          <a:bodyPr spcFirstLastPara="1" wrap="square" lIns="91425" tIns="45700" rIns="91425" bIns="45700" anchor="t" anchorCtr="0">
            <a:noAutofit/>
          </a:bodyPr>
          <a:lstStyle/>
          <a:p>
            <a:pPr marL="457200" lvl="0" indent="-304800" algn="just" rtl="0">
              <a:lnSpc>
                <a:spcPct val="150000"/>
              </a:lnSpc>
              <a:spcBef>
                <a:spcPts val="1000"/>
              </a:spcBef>
              <a:spcAft>
                <a:spcPts val="0"/>
              </a:spcAft>
              <a:buSzPts val="1200"/>
              <a:buFont typeface="Times New Roman"/>
              <a:buChar char="●"/>
            </a:pPr>
            <a:r>
              <a:rPr lang="en" sz="1200" dirty="0">
                <a:latin typeface="Times New Roman"/>
                <a:ea typeface="Times New Roman"/>
                <a:cs typeface="Times New Roman"/>
                <a:sym typeface="Times New Roman"/>
              </a:rPr>
              <a:t>The proposed system is designed to provide real-time monitoring of environmental parameters using an embedded system platform.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It is based on the ESP32 microcontroller, which serves as the central controller for processing sensor data and controlling alert mechanisms.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The system integrates MQ2  sensor to detect CO₂ levels and dust particles, providing an accurate measure of air quality.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Additionally, a DHT11 sensor is used to monitor temperature and humidity, giving a complete view of environmental conditions.</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All sensor data is continuously read and processed by the controller.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To enhance user interaction, a 4-digit LED display is added to show real-time values of parameters such as temperature, humidity, and air quality levels.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This allows users to easily view the readings directly on the device.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When any parameter exceeds its predefined threshold, the system immediately triggers a buzzer alert while also displaying the warning values on the LED display, notifying users of unsafe conditions.</a:t>
            </a:r>
            <a:endParaRPr sz="1200" dirty="0">
              <a:latin typeface="Times New Roman"/>
              <a:ea typeface="Times New Roman"/>
              <a:cs typeface="Times New Roman"/>
              <a:sym typeface="Times New Roman"/>
            </a:endParaRPr>
          </a:p>
          <a:p>
            <a:pPr marL="0" lvl="0" indent="0" algn="just" rtl="0">
              <a:lnSpc>
                <a:spcPct val="150000"/>
              </a:lnSpc>
              <a:spcBef>
                <a:spcPts val="1000"/>
              </a:spcBef>
              <a:spcAft>
                <a:spcPts val="0"/>
              </a:spcAft>
              <a:buNone/>
            </a:pPr>
            <a:endParaRPr sz="1200" dirty="0">
              <a:latin typeface="Times New Roman"/>
              <a:ea typeface="Times New Roman"/>
              <a:cs typeface="Times New Roman"/>
              <a:sym typeface="Times New Roman"/>
            </a:endParaRPr>
          </a:p>
          <a:p>
            <a:pPr marL="0" lvl="0" indent="0" algn="just" rtl="0">
              <a:lnSpc>
                <a:spcPct val="150000"/>
              </a:lnSpc>
              <a:spcBef>
                <a:spcPts val="1000"/>
              </a:spcBef>
              <a:spcAft>
                <a:spcPts val="1000"/>
              </a:spcAft>
              <a:buNone/>
            </a:pPr>
            <a:endParaRPr sz="1200" dirty="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9"/>
          <p:cNvSpPr txBox="1">
            <a:spLocks noGrp="1"/>
          </p:cNvSpPr>
          <p:nvPr>
            <p:ph type="title"/>
          </p:nvPr>
        </p:nvSpPr>
        <p:spPr>
          <a:xfrm>
            <a:off x="483343" y="143446"/>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3600"/>
              <a:buNone/>
            </a:pPr>
            <a:r>
              <a:rPr lang="en" sz="2400" b="1" dirty="0">
                <a:latin typeface="Times New Roman"/>
                <a:ea typeface="Times New Roman"/>
                <a:cs typeface="Times New Roman"/>
                <a:sym typeface="Times New Roman"/>
              </a:rPr>
              <a:t>SYSTEM REQUIREMENT</a:t>
            </a:r>
            <a:endParaRPr sz="2400" b="1" dirty="0">
              <a:latin typeface="Times New Roman"/>
              <a:ea typeface="Times New Roman"/>
              <a:cs typeface="Times New Roman"/>
              <a:sym typeface="Times New Roman"/>
            </a:endParaRPr>
          </a:p>
        </p:txBody>
      </p:sp>
      <p:sp>
        <p:nvSpPr>
          <p:cNvPr id="226" name="Google Shape;226;p39"/>
          <p:cNvSpPr txBox="1">
            <a:spLocks noGrp="1"/>
          </p:cNvSpPr>
          <p:nvPr>
            <p:ph type="body" idx="1"/>
          </p:nvPr>
        </p:nvSpPr>
        <p:spPr>
          <a:xfrm>
            <a:off x="471948" y="1256958"/>
            <a:ext cx="6850500" cy="3619200"/>
          </a:xfrm>
          <a:prstGeom prst="rect">
            <a:avLst/>
          </a:prstGeom>
          <a:noFill/>
          <a:ln>
            <a:noFill/>
          </a:ln>
        </p:spPr>
        <p:txBody>
          <a:bodyPr spcFirstLastPara="1" wrap="square" lIns="91425" tIns="45700" rIns="91425" bIns="45700" anchor="t" anchorCtr="0">
            <a:noAutofit/>
          </a:bodyPr>
          <a:lstStyle/>
          <a:p>
            <a:pPr marL="0" lvl="0" indent="0" algn="just" rtl="0">
              <a:spcBef>
                <a:spcPts val="1000"/>
              </a:spcBef>
              <a:spcAft>
                <a:spcPts val="0"/>
              </a:spcAft>
              <a:buClr>
                <a:schemeClr val="dk1"/>
              </a:buClr>
              <a:buSzPts val="1100"/>
              <a:buFont typeface="Arial"/>
              <a:buNone/>
            </a:pPr>
            <a:r>
              <a:rPr lang="en" sz="1200" b="1" dirty="0">
                <a:latin typeface="Times New Roman"/>
                <a:ea typeface="Times New Roman"/>
                <a:cs typeface="Times New Roman"/>
                <a:sym typeface="Times New Roman"/>
              </a:rPr>
              <a:t>HARDWARE REQUIREMENT</a:t>
            </a:r>
            <a:endParaRPr sz="1200" b="1" dirty="0">
              <a:latin typeface="Times New Roman"/>
              <a:ea typeface="Times New Roman"/>
              <a:cs typeface="Times New Roman"/>
              <a:sym typeface="Times New Roman"/>
            </a:endParaRPr>
          </a:p>
          <a:p>
            <a:pPr marL="0" lvl="0" indent="0" algn="just" rtl="0">
              <a:spcBef>
                <a:spcPts val="1000"/>
              </a:spcBef>
              <a:spcAft>
                <a:spcPts val="0"/>
              </a:spcAft>
              <a:buClr>
                <a:schemeClr val="dk1"/>
              </a:buClr>
              <a:buSzPts val="1100"/>
              <a:buFont typeface="Arial"/>
              <a:buNone/>
            </a:pPr>
            <a:endParaRPr sz="1200" b="1"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AutoNum type="arabicPeriod"/>
            </a:pPr>
            <a:r>
              <a:rPr lang="en" sz="1200" dirty="0">
                <a:latin typeface="Times New Roman"/>
                <a:ea typeface="Times New Roman"/>
                <a:cs typeface="Times New Roman"/>
                <a:sym typeface="Times New Roman"/>
              </a:rPr>
              <a:t>ESP 32 Microcontroller</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AutoNum type="arabicPeriod"/>
            </a:pPr>
            <a:r>
              <a:rPr lang="en" sz="1200" dirty="0">
                <a:latin typeface="Times New Roman"/>
                <a:ea typeface="Times New Roman"/>
                <a:cs typeface="Times New Roman"/>
                <a:sym typeface="Times New Roman"/>
              </a:rPr>
              <a:t>MQ-135 Sensor</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AutoNum type="arabicPeriod"/>
            </a:pPr>
            <a:r>
              <a:rPr lang="en" sz="1200" dirty="0">
                <a:latin typeface="Times New Roman"/>
                <a:ea typeface="Times New Roman"/>
                <a:cs typeface="Times New Roman"/>
                <a:sym typeface="Times New Roman"/>
              </a:rPr>
              <a:t>DHT11 Sensor</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AutoNum type="arabicPeriod"/>
            </a:pPr>
            <a:r>
              <a:rPr lang="en" sz="1200" dirty="0">
                <a:latin typeface="Times New Roman"/>
                <a:ea typeface="Times New Roman"/>
                <a:cs typeface="Times New Roman"/>
                <a:sym typeface="Times New Roman"/>
              </a:rPr>
              <a:t>Buzzer</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AutoNum type="arabicPeriod"/>
            </a:pPr>
            <a:r>
              <a:rPr lang="en" sz="1200" dirty="0">
                <a:latin typeface="Times New Roman"/>
                <a:ea typeface="Times New Roman"/>
                <a:cs typeface="Times New Roman"/>
                <a:sym typeface="Times New Roman"/>
              </a:rPr>
              <a:t>TM1637 4 Bits LED Display * 4</a:t>
            </a:r>
            <a:endParaRPr sz="1200" dirty="0">
              <a:latin typeface="Times New Roman"/>
              <a:ea typeface="Times New Roman"/>
              <a:cs typeface="Times New Roman"/>
              <a:sym typeface="Times New Roman"/>
            </a:endParaRPr>
          </a:p>
          <a:p>
            <a:pPr marL="457200" lvl="0" indent="0" algn="just" rtl="0">
              <a:lnSpc>
                <a:spcPct val="150000"/>
              </a:lnSpc>
              <a:spcBef>
                <a:spcPts val="0"/>
              </a:spcBef>
              <a:spcAft>
                <a:spcPts val="0"/>
              </a:spcAft>
              <a:buNone/>
            </a:pPr>
            <a:endParaRPr sz="1200" dirty="0">
              <a:latin typeface="Times New Roman"/>
              <a:ea typeface="Times New Roman"/>
              <a:cs typeface="Times New Roman"/>
              <a:sym typeface="Times New Roman"/>
            </a:endParaRPr>
          </a:p>
          <a:p>
            <a:pPr marL="0" lvl="0" indent="0" algn="just" rtl="0">
              <a:lnSpc>
                <a:spcPct val="150000"/>
              </a:lnSpc>
              <a:spcBef>
                <a:spcPts val="0"/>
              </a:spcBef>
              <a:spcAft>
                <a:spcPts val="0"/>
              </a:spcAft>
              <a:buNone/>
            </a:pPr>
            <a:endParaRPr sz="1200" dirty="0">
              <a:latin typeface="Times New Roman"/>
              <a:ea typeface="Times New Roman"/>
              <a:cs typeface="Times New Roman"/>
              <a:sym typeface="Times New Roman"/>
            </a:endParaRPr>
          </a:p>
          <a:p>
            <a:pPr marL="0" lvl="0" indent="0" algn="just" rtl="0">
              <a:lnSpc>
                <a:spcPct val="150000"/>
              </a:lnSpc>
              <a:spcBef>
                <a:spcPts val="0"/>
              </a:spcBef>
              <a:spcAft>
                <a:spcPts val="0"/>
              </a:spcAft>
              <a:buNone/>
            </a:pPr>
            <a:r>
              <a:rPr lang="en" sz="1200" b="1" dirty="0">
                <a:latin typeface="Times New Roman"/>
                <a:ea typeface="Times New Roman"/>
                <a:cs typeface="Times New Roman"/>
                <a:sym typeface="Times New Roman"/>
              </a:rPr>
              <a:t>SOFTWARE REQUIREMENT</a:t>
            </a:r>
            <a:endParaRPr sz="1200" b="1"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AutoNum type="arabicPeriod"/>
            </a:pPr>
            <a:r>
              <a:rPr lang="en" sz="1200" dirty="0">
                <a:latin typeface="Times New Roman"/>
                <a:ea typeface="Times New Roman"/>
                <a:cs typeface="Times New Roman"/>
                <a:sym typeface="Times New Roman"/>
              </a:rPr>
              <a:t>Arduino IDE</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AutoNum type="arabicPeriod"/>
            </a:pPr>
            <a:r>
              <a:rPr lang="en" sz="1200" dirty="0">
                <a:latin typeface="Times New Roman"/>
                <a:ea typeface="Times New Roman"/>
                <a:cs typeface="Times New Roman"/>
                <a:sym typeface="Times New Roman"/>
              </a:rPr>
              <a:t>Proteus </a:t>
            </a:r>
            <a:endParaRPr sz="1200" dirty="0">
              <a:latin typeface="Times New Roman"/>
              <a:ea typeface="Times New Roman"/>
              <a:cs typeface="Times New Roman"/>
              <a:sym typeface="Times New Roman"/>
            </a:endParaRPr>
          </a:p>
          <a:p>
            <a:pPr marL="457200" lvl="0" indent="0" algn="just" rtl="0">
              <a:lnSpc>
                <a:spcPct val="150000"/>
              </a:lnSpc>
              <a:spcBef>
                <a:spcPts val="1000"/>
              </a:spcBef>
              <a:spcAft>
                <a:spcPts val="1000"/>
              </a:spcAft>
              <a:buNone/>
            </a:pPr>
            <a:endParaRPr sz="1200"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6"/>
          <p:cNvSpPr txBox="1">
            <a:spLocks noGrp="1"/>
          </p:cNvSpPr>
          <p:nvPr>
            <p:ph type="title"/>
          </p:nvPr>
        </p:nvSpPr>
        <p:spPr>
          <a:xfrm>
            <a:off x="283568" y="80196"/>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3600"/>
              <a:buNone/>
            </a:pPr>
            <a:r>
              <a:rPr lang="en" sz="2400" b="1">
                <a:latin typeface="Times New Roman"/>
                <a:ea typeface="Times New Roman"/>
                <a:cs typeface="Times New Roman"/>
                <a:sym typeface="Times New Roman"/>
              </a:rPr>
              <a:t>BLOCK DIAGRAM</a:t>
            </a:r>
            <a:endParaRPr sz="2400" b="1">
              <a:latin typeface="Times New Roman"/>
              <a:ea typeface="Times New Roman"/>
              <a:cs typeface="Times New Roman"/>
              <a:sym typeface="Times New Roman"/>
            </a:endParaRPr>
          </a:p>
        </p:txBody>
      </p:sp>
      <p:sp>
        <p:nvSpPr>
          <p:cNvPr id="203" name="Google Shape;203;p36"/>
          <p:cNvSpPr txBox="1"/>
          <p:nvPr/>
        </p:nvSpPr>
        <p:spPr>
          <a:xfrm>
            <a:off x="4086050" y="4078500"/>
            <a:ext cx="4188900" cy="4002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None/>
            </a:pPr>
            <a:r>
              <a:rPr lang="en" b="1">
                <a:solidFill>
                  <a:schemeClr val="dk1"/>
                </a:solidFill>
                <a:latin typeface="Times New Roman"/>
                <a:ea typeface="Times New Roman"/>
                <a:cs typeface="Times New Roman"/>
                <a:sym typeface="Times New Roman"/>
              </a:rPr>
              <a:t>Fig. 1 Shows the Block Diagram of the System</a:t>
            </a:r>
            <a:endParaRPr b="1">
              <a:solidFill>
                <a:schemeClr val="dk1"/>
              </a:solidFill>
              <a:latin typeface="Times New Roman"/>
              <a:ea typeface="Times New Roman"/>
              <a:cs typeface="Times New Roman"/>
              <a:sym typeface="Times New Roman"/>
            </a:endParaRPr>
          </a:p>
        </p:txBody>
      </p:sp>
      <p:sp>
        <p:nvSpPr>
          <p:cNvPr id="204" name="Google Shape;204;p36"/>
          <p:cNvSpPr txBox="1"/>
          <p:nvPr/>
        </p:nvSpPr>
        <p:spPr>
          <a:xfrm>
            <a:off x="451625" y="1542850"/>
            <a:ext cx="3000000" cy="22425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sz="1500" b="1">
                <a:solidFill>
                  <a:schemeClr val="dk1"/>
                </a:solidFill>
                <a:latin typeface="Times New Roman"/>
                <a:ea typeface="Times New Roman"/>
                <a:cs typeface="Times New Roman"/>
                <a:sym typeface="Times New Roman"/>
              </a:rPr>
              <a:t>DESCRIPTION</a:t>
            </a:r>
            <a:endParaRPr sz="1500" b="1">
              <a:solidFill>
                <a:schemeClr val="dk1"/>
              </a:solidFill>
              <a:latin typeface="Times New Roman"/>
              <a:ea typeface="Times New Roman"/>
              <a:cs typeface="Times New Roman"/>
              <a:sym typeface="Times New Roman"/>
            </a:endParaRPr>
          </a:p>
          <a:p>
            <a:pPr marL="0" lvl="0" indent="0" algn="ctr" rtl="0">
              <a:lnSpc>
                <a:spcPct val="15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lvl="0" indent="0" algn="just" rtl="0">
              <a:lnSpc>
                <a:spcPct val="15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In this project we have used an ESP32 Microcontroller, In input we have MQ2 Sensor and DHT11 Sensor . In output we have four 4 bit LED display and buzzer for alert generation.</a:t>
            </a:r>
            <a:endParaRPr sz="1200">
              <a:solidFill>
                <a:schemeClr val="dk1"/>
              </a:solidFill>
              <a:latin typeface="Times New Roman"/>
              <a:ea typeface="Times New Roman"/>
              <a:cs typeface="Times New Roman"/>
              <a:sym typeface="Times New Roman"/>
            </a:endParaRPr>
          </a:p>
          <a:p>
            <a:pPr marL="0" lvl="0" indent="0" algn="l" rtl="0">
              <a:lnSpc>
                <a:spcPct val="150000"/>
              </a:lnSpc>
              <a:spcBef>
                <a:spcPts val="0"/>
              </a:spcBef>
              <a:spcAft>
                <a:spcPts val="0"/>
              </a:spcAft>
              <a:buNone/>
            </a:pPr>
            <a:endParaRPr sz="1200" b="1">
              <a:solidFill>
                <a:schemeClr val="dk1"/>
              </a:solidFill>
              <a:latin typeface="Times New Roman"/>
              <a:ea typeface="Times New Roman"/>
              <a:cs typeface="Times New Roman"/>
              <a:sym typeface="Times New Roman"/>
            </a:endParaRPr>
          </a:p>
          <a:p>
            <a:pPr marL="0" lvl="0" indent="0" algn="just" rtl="0">
              <a:lnSpc>
                <a:spcPct val="150000"/>
              </a:lnSpc>
              <a:spcBef>
                <a:spcPts val="0"/>
              </a:spcBef>
              <a:spcAft>
                <a:spcPts val="0"/>
              </a:spcAft>
              <a:buNone/>
            </a:pPr>
            <a:endParaRPr sz="1200">
              <a:solidFill>
                <a:schemeClr val="dk1"/>
              </a:solidFill>
              <a:latin typeface="Times New Roman"/>
              <a:ea typeface="Times New Roman"/>
              <a:cs typeface="Times New Roman"/>
              <a:sym typeface="Times New Roman"/>
            </a:endParaRPr>
          </a:p>
        </p:txBody>
      </p:sp>
      <p:pic>
        <p:nvPicPr>
          <p:cNvPr id="205" name="Google Shape;205;p36" title="Screenshot 2026-03-29 154516.png"/>
          <p:cNvPicPr preferRelativeResize="0"/>
          <p:nvPr/>
        </p:nvPicPr>
        <p:blipFill>
          <a:blip r:embed="rId3">
            <a:alphaModFix/>
          </a:blip>
          <a:stretch>
            <a:fillRect/>
          </a:stretch>
        </p:blipFill>
        <p:spPr>
          <a:xfrm>
            <a:off x="4086050" y="805596"/>
            <a:ext cx="4470898" cy="29207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xfrm>
            <a:off x="283568" y="80196"/>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3600"/>
              <a:buNone/>
            </a:pPr>
            <a:r>
              <a:rPr lang="en" sz="2400" b="1">
                <a:latin typeface="Times New Roman"/>
                <a:ea typeface="Times New Roman"/>
                <a:cs typeface="Times New Roman"/>
                <a:sym typeface="Times New Roman"/>
              </a:rPr>
              <a:t>FLOWCHART </a:t>
            </a:r>
            <a:endParaRPr sz="2400" b="1">
              <a:latin typeface="Times New Roman"/>
              <a:ea typeface="Times New Roman"/>
              <a:cs typeface="Times New Roman"/>
              <a:sym typeface="Times New Roman"/>
            </a:endParaRPr>
          </a:p>
        </p:txBody>
      </p:sp>
      <p:sp>
        <p:nvSpPr>
          <p:cNvPr id="212" name="Google Shape;212;p37"/>
          <p:cNvSpPr txBox="1"/>
          <p:nvPr/>
        </p:nvSpPr>
        <p:spPr>
          <a:xfrm>
            <a:off x="2311450" y="4463600"/>
            <a:ext cx="3747300" cy="4002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pPr>
            <a:r>
              <a:rPr lang="en" b="1">
                <a:solidFill>
                  <a:schemeClr val="dk1"/>
                </a:solidFill>
                <a:latin typeface="Times New Roman"/>
                <a:ea typeface="Times New Roman"/>
                <a:cs typeface="Times New Roman"/>
                <a:sym typeface="Times New Roman"/>
              </a:rPr>
              <a:t>Fig. 2 Shows the flowchart of the System</a:t>
            </a:r>
            <a:endParaRPr b="1">
              <a:solidFill>
                <a:schemeClr val="dk1"/>
              </a:solidFill>
              <a:latin typeface="Times New Roman"/>
              <a:ea typeface="Times New Roman"/>
              <a:cs typeface="Times New Roman"/>
              <a:sym typeface="Times New Roman"/>
            </a:endParaRPr>
          </a:p>
        </p:txBody>
      </p:sp>
      <p:pic>
        <p:nvPicPr>
          <p:cNvPr id="213" name="Google Shape;213;p37"/>
          <p:cNvPicPr preferRelativeResize="0"/>
          <p:nvPr/>
        </p:nvPicPr>
        <p:blipFill rotWithShape="1">
          <a:blip r:embed="rId3">
            <a:alphaModFix/>
          </a:blip>
          <a:srcRect b="5838"/>
          <a:stretch/>
        </p:blipFill>
        <p:spPr>
          <a:xfrm>
            <a:off x="181232" y="862624"/>
            <a:ext cx="7405817" cy="36009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8"/>
          <p:cNvSpPr txBox="1">
            <a:spLocks noGrp="1"/>
          </p:cNvSpPr>
          <p:nvPr>
            <p:ph type="title"/>
          </p:nvPr>
        </p:nvSpPr>
        <p:spPr>
          <a:xfrm>
            <a:off x="476818" y="318046"/>
            <a:ext cx="6827700" cy="7254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endParaRPr sz="2400" b="1">
              <a:latin typeface="Times New Roman"/>
              <a:ea typeface="Times New Roman"/>
              <a:cs typeface="Times New Roman"/>
              <a:sym typeface="Times New Roman"/>
            </a:endParaRPr>
          </a:p>
          <a:p>
            <a:pPr marL="0" lvl="0" indent="0" algn="l" rtl="0">
              <a:spcBef>
                <a:spcPts val="0"/>
              </a:spcBef>
              <a:spcAft>
                <a:spcPts val="0"/>
              </a:spcAft>
              <a:buClr>
                <a:schemeClr val="dk1"/>
              </a:buClr>
              <a:buSzPct val="150000"/>
              <a:buFont typeface="Arial"/>
              <a:buNone/>
            </a:pPr>
            <a:r>
              <a:rPr lang="en" sz="2400" b="1">
                <a:latin typeface="Times New Roman"/>
                <a:ea typeface="Times New Roman"/>
                <a:cs typeface="Times New Roman"/>
                <a:sym typeface="Times New Roman"/>
              </a:rPr>
              <a:t>WORKING </a:t>
            </a:r>
            <a:endParaRPr sz="2400" b="1">
              <a:latin typeface="Times New Roman"/>
              <a:ea typeface="Times New Roman"/>
              <a:cs typeface="Times New Roman"/>
              <a:sym typeface="Times New Roman"/>
            </a:endParaRPr>
          </a:p>
          <a:p>
            <a:pPr marL="0" lvl="0" indent="0" algn="l" rtl="0">
              <a:spcBef>
                <a:spcPts val="0"/>
              </a:spcBef>
              <a:spcAft>
                <a:spcPts val="0"/>
              </a:spcAft>
              <a:buNone/>
            </a:pPr>
            <a:endParaRPr/>
          </a:p>
        </p:txBody>
      </p:sp>
      <p:sp>
        <p:nvSpPr>
          <p:cNvPr id="219" name="Google Shape;219;p38"/>
          <p:cNvSpPr txBox="1">
            <a:spLocks noGrp="1"/>
          </p:cNvSpPr>
          <p:nvPr>
            <p:ph type="body" idx="1"/>
          </p:nvPr>
        </p:nvSpPr>
        <p:spPr>
          <a:xfrm>
            <a:off x="362465" y="955589"/>
            <a:ext cx="7068065" cy="3869865"/>
          </a:xfrm>
          <a:prstGeom prst="rect">
            <a:avLst/>
          </a:prstGeom>
        </p:spPr>
        <p:txBody>
          <a:bodyPr spcFirstLastPara="1" wrap="square" lIns="91425" tIns="45700" rIns="91425" bIns="45700" anchor="t" anchorCtr="0">
            <a:noAutofit/>
          </a:bodyPr>
          <a:lstStyle/>
          <a:p>
            <a:pPr marL="457200" lvl="0" indent="-305435" algn="just" rtl="0">
              <a:lnSpc>
                <a:spcPct val="130000"/>
              </a:lnSpc>
              <a:spcBef>
                <a:spcPts val="1000"/>
              </a:spcBef>
              <a:spcAft>
                <a:spcPts val="0"/>
              </a:spcAft>
              <a:buSzPts val="1210"/>
              <a:buFont typeface="Times New Roman"/>
              <a:buChar char="●"/>
            </a:pPr>
            <a:r>
              <a:rPr lang="en" sz="1210" dirty="0">
                <a:latin typeface="Times New Roman"/>
                <a:ea typeface="Times New Roman"/>
                <a:cs typeface="Times New Roman"/>
                <a:sym typeface="Times New Roman"/>
              </a:rPr>
              <a:t>The proposed system works by continuously monitoring environmental parameters using the ESP32 microcontroller as the central processing unit. </a:t>
            </a:r>
            <a:endParaRPr sz="1210" dirty="0">
              <a:latin typeface="Times New Roman"/>
              <a:ea typeface="Times New Roman"/>
              <a:cs typeface="Times New Roman"/>
              <a:sym typeface="Times New Roman"/>
            </a:endParaRPr>
          </a:p>
          <a:p>
            <a:pPr marL="457200" lvl="0" indent="-305435" algn="just" rtl="0">
              <a:lnSpc>
                <a:spcPct val="130000"/>
              </a:lnSpc>
              <a:spcBef>
                <a:spcPts val="0"/>
              </a:spcBef>
              <a:spcAft>
                <a:spcPts val="0"/>
              </a:spcAft>
              <a:buSzPts val="1210"/>
              <a:buFont typeface="Times New Roman"/>
              <a:buChar char="●"/>
            </a:pPr>
            <a:r>
              <a:rPr lang="en" sz="1210" dirty="0">
                <a:latin typeface="Times New Roman"/>
                <a:ea typeface="Times New Roman"/>
                <a:cs typeface="Times New Roman"/>
                <a:sym typeface="Times New Roman"/>
              </a:rPr>
              <a:t>Initially, all sensors including the MQ2 sensor and DHT11 sensor are initialized. The MQ2 sensor detects the concentration of CO₂ and dust particles in the air, while the DHT11 sensor measures temperature and humidity. </a:t>
            </a:r>
            <a:endParaRPr sz="1210" dirty="0">
              <a:latin typeface="Times New Roman"/>
              <a:ea typeface="Times New Roman"/>
              <a:cs typeface="Times New Roman"/>
              <a:sym typeface="Times New Roman"/>
            </a:endParaRPr>
          </a:p>
          <a:p>
            <a:pPr marL="457200" lvl="0" indent="-305435" algn="just" rtl="0">
              <a:lnSpc>
                <a:spcPct val="130000"/>
              </a:lnSpc>
              <a:spcBef>
                <a:spcPts val="0"/>
              </a:spcBef>
              <a:spcAft>
                <a:spcPts val="0"/>
              </a:spcAft>
              <a:buSzPts val="1210"/>
              <a:buFont typeface="Times New Roman"/>
              <a:buChar char="●"/>
            </a:pPr>
            <a:r>
              <a:rPr lang="en" sz="1210" dirty="0">
                <a:latin typeface="Times New Roman"/>
                <a:ea typeface="Times New Roman"/>
                <a:cs typeface="Times New Roman"/>
                <a:sym typeface="Times New Roman"/>
              </a:rPr>
              <a:t>These sensor readings are collected by the ESP32 and processed in real time. </a:t>
            </a:r>
            <a:endParaRPr sz="1210" dirty="0">
              <a:latin typeface="Times New Roman"/>
              <a:ea typeface="Times New Roman"/>
              <a:cs typeface="Times New Roman"/>
              <a:sym typeface="Times New Roman"/>
            </a:endParaRPr>
          </a:p>
          <a:p>
            <a:pPr marL="457200" lvl="0" indent="-305435" algn="just" rtl="0">
              <a:lnSpc>
                <a:spcPct val="130000"/>
              </a:lnSpc>
              <a:spcBef>
                <a:spcPts val="0"/>
              </a:spcBef>
              <a:spcAft>
                <a:spcPts val="0"/>
              </a:spcAft>
              <a:buSzPts val="1210"/>
              <a:buFont typeface="Times New Roman"/>
              <a:buChar char="●"/>
            </a:pPr>
            <a:r>
              <a:rPr lang="en" sz="1210" dirty="0">
                <a:latin typeface="Times New Roman"/>
                <a:ea typeface="Times New Roman"/>
                <a:cs typeface="Times New Roman"/>
                <a:sym typeface="Times New Roman"/>
              </a:rPr>
              <a:t>The processed data is then displayed on a 4-digit LED display, allowing users to easily observe current environmental conditions.</a:t>
            </a:r>
            <a:endParaRPr sz="1210" dirty="0">
              <a:latin typeface="Times New Roman"/>
              <a:ea typeface="Times New Roman"/>
              <a:cs typeface="Times New Roman"/>
              <a:sym typeface="Times New Roman"/>
            </a:endParaRPr>
          </a:p>
          <a:p>
            <a:pPr marL="457200" lvl="0" indent="-305435" algn="just" rtl="0">
              <a:lnSpc>
                <a:spcPct val="130000"/>
              </a:lnSpc>
              <a:spcBef>
                <a:spcPts val="0"/>
              </a:spcBef>
              <a:spcAft>
                <a:spcPts val="0"/>
              </a:spcAft>
              <a:buSzPts val="1210"/>
              <a:buFont typeface="Times New Roman"/>
              <a:buChar char="●"/>
            </a:pPr>
            <a:r>
              <a:rPr lang="en" sz="1210" dirty="0">
                <a:latin typeface="Times New Roman"/>
                <a:ea typeface="Times New Roman"/>
                <a:cs typeface="Times New Roman"/>
                <a:sym typeface="Times New Roman"/>
              </a:rPr>
              <a:t>The system continuously compares the sensed values with predefined threshold limits to determine air quality safety levels. </a:t>
            </a:r>
            <a:endParaRPr sz="1210" dirty="0">
              <a:latin typeface="Times New Roman"/>
              <a:ea typeface="Times New Roman"/>
              <a:cs typeface="Times New Roman"/>
              <a:sym typeface="Times New Roman"/>
            </a:endParaRPr>
          </a:p>
          <a:p>
            <a:pPr marL="457200" lvl="0" indent="-305435" algn="just" rtl="0">
              <a:lnSpc>
                <a:spcPct val="130000"/>
              </a:lnSpc>
              <a:spcBef>
                <a:spcPts val="0"/>
              </a:spcBef>
              <a:spcAft>
                <a:spcPts val="0"/>
              </a:spcAft>
              <a:buSzPts val="1210"/>
              <a:buFont typeface="Times New Roman"/>
              <a:buChar char="●"/>
            </a:pPr>
            <a:r>
              <a:rPr lang="en" sz="1210" dirty="0">
                <a:latin typeface="Times New Roman"/>
                <a:ea typeface="Times New Roman"/>
                <a:cs typeface="Times New Roman"/>
                <a:sym typeface="Times New Roman"/>
              </a:rPr>
              <a:t>If any parameter such as gas concentration, temperature, or humidity exceeds the safe limit, the ESP32 immediately activates a buzzer to alert users about the unsafe condition. </a:t>
            </a:r>
            <a:endParaRPr sz="1210" dirty="0">
              <a:latin typeface="Times New Roman"/>
              <a:ea typeface="Times New Roman"/>
              <a:cs typeface="Times New Roman"/>
              <a:sym typeface="Times New Roman"/>
            </a:endParaRPr>
          </a:p>
          <a:p>
            <a:pPr marL="457200" lvl="0" indent="-305435" algn="just" rtl="0">
              <a:lnSpc>
                <a:spcPct val="130000"/>
              </a:lnSpc>
              <a:spcBef>
                <a:spcPts val="0"/>
              </a:spcBef>
              <a:spcAft>
                <a:spcPts val="0"/>
              </a:spcAft>
              <a:buSzPts val="1210"/>
              <a:buFont typeface="Times New Roman"/>
              <a:buChar char="●"/>
            </a:pPr>
            <a:r>
              <a:rPr lang="en" sz="1210" dirty="0">
                <a:latin typeface="Times New Roman"/>
                <a:ea typeface="Times New Roman"/>
                <a:cs typeface="Times New Roman"/>
                <a:sym typeface="Times New Roman"/>
              </a:rPr>
              <a:t>At the same time, the warning values are displayed on the 4 bit LED display for quick identification. </a:t>
            </a:r>
            <a:endParaRPr sz="1210" dirty="0">
              <a:latin typeface="Times New Roman"/>
              <a:ea typeface="Times New Roman"/>
              <a:cs typeface="Times New Roman"/>
              <a:sym typeface="Times New Roman"/>
            </a:endParaRPr>
          </a:p>
          <a:p>
            <a:pPr marL="457200" lvl="0" indent="-305435" algn="just" rtl="0">
              <a:lnSpc>
                <a:spcPct val="130000"/>
              </a:lnSpc>
              <a:spcBef>
                <a:spcPts val="0"/>
              </a:spcBef>
              <a:spcAft>
                <a:spcPts val="0"/>
              </a:spcAft>
              <a:buSzPts val="1210"/>
              <a:buFont typeface="Times New Roman"/>
              <a:buChar char="●"/>
            </a:pPr>
            <a:r>
              <a:rPr lang="en" sz="1210" dirty="0">
                <a:latin typeface="Times New Roman"/>
                <a:ea typeface="Times New Roman"/>
                <a:cs typeface="Times New Roman"/>
                <a:sym typeface="Times New Roman"/>
              </a:rPr>
              <a:t>If all parameters are within safe limits, the system continues normal monitoring without triggering any alert.</a:t>
            </a:r>
            <a:endParaRPr sz="1210" dirty="0">
              <a:latin typeface="Times New Roman"/>
              <a:ea typeface="Times New Roman"/>
              <a:cs typeface="Times New Roman"/>
              <a:sym typeface="Times New Roman"/>
            </a:endParaRPr>
          </a:p>
          <a:p>
            <a:pPr marL="0" lvl="0" indent="0" algn="just" rtl="0">
              <a:lnSpc>
                <a:spcPct val="130000"/>
              </a:lnSpc>
              <a:spcBef>
                <a:spcPts val="1000"/>
              </a:spcBef>
              <a:spcAft>
                <a:spcPts val="1000"/>
              </a:spcAft>
              <a:buSzPts val="1018"/>
              <a:buNone/>
            </a:pPr>
            <a:endParaRPr sz="1210" dirty="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53F43-E35D-4662-DEEB-2F78C53F662F}"/>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CIRCUIT DIAGRAM</a:t>
            </a:r>
          </a:p>
        </p:txBody>
      </p:sp>
      <p:sp>
        <p:nvSpPr>
          <p:cNvPr id="3" name="Text Placeholder 2">
            <a:extLst>
              <a:ext uri="{FF2B5EF4-FFF2-40B4-BE49-F238E27FC236}">
                <a16:creationId xmlns:a16="http://schemas.microsoft.com/office/drawing/2014/main" id="{0C1F1C5C-CFFF-961D-D24C-FF0EC39B9649}"/>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4E77C8F6-B1F8-87B4-DCDB-39FCFFA11FBC}"/>
              </a:ext>
            </a:extLst>
          </p:cNvPr>
          <p:cNvPicPr>
            <a:picLocks noChangeAspect="1"/>
          </p:cNvPicPr>
          <p:nvPr/>
        </p:nvPicPr>
        <p:blipFill>
          <a:blip r:embed="rId2"/>
          <a:stretch>
            <a:fillRect/>
          </a:stretch>
        </p:blipFill>
        <p:spPr>
          <a:xfrm>
            <a:off x="471948" y="1043396"/>
            <a:ext cx="7754644" cy="4031112"/>
          </a:xfrm>
          <a:prstGeom prst="rect">
            <a:avLst/>
          </a:prstGeom>
        </p:spPr>
      </p:pic>
    </p:spTree>
    <p:extLst>
      <p:ext uri="{BB962C8B-B14F-4D97-AF65-F5344CB8AC3E}">
        <p14:creationId xmlns:p14="http://schemas.microsoft.com/office/powerpoint/2010/main" val="1844948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0"/>
          <p:cNvSpPr txBox="1">
            <a:spLocks noGrp="1"/>
          </p:cNvSpPr>
          <p:nvPr>
            <p:ph type="title"/>
          </p:nvPr>
        </p:nvSpPr>
        <p:spPr>
          <a:xfrm>
            <a:off x="476818" y="318046"/>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C4BD97"/>
              </a:buClr>
              <a:buSzPts val="3600"/>
              <a:buFont typeface="Calibri"/>
              <a:buNone/>
            </a:pPr>
            <a:r>
              <a:rPr lang="en" sz="2400" b="1">
                <a:solidFill>
                  <a:srgbClr val="0070C0"/>
                </a:solidFill>
                <a:latin typeface="Times New Roman"/>
                <a:ea typeface="Times New Roman"/>
                <a:cs typeface="Times New Roman"/>
                <a:sym typeface="Times New Roman"/>
              </a:rPr>
              <a:t>ESP32 MICROCONTROLLER</a:t>
            </a:r>
            <a:endParaRPr sz="2400" b="1">
              <a:solidFill>
                <a:srgbClr val="0070C0"/>
              </a:solidFill>
              <a:latin typeface="Times New Roman"/>
              <a:ea typeface="Times New Roman"/>
              <a:cs typeface="Times New Roman"/>
              <a:sym typeface="Times New Roman"/>
            </a:endParaRPr>
          </a:p>
        </p:txBody>
      </p:sp>
      <p:sp>
        <p:nvSpPr>
          <p:cNvPr id="232" name="Google Shape;232;p40"/>
          <p:cNvSpPr/>
          <p:nvPr/>
        </p:nvSpPr>
        <p:spPr>
          <a:xfrm>
            <a:off x="542800" y="1540000"/>
            <a:ext cx="4618200" cy="3376500"/>
          </a:xfrm>
          <a:prstGeom prst="roundRect">
            <a:avLst>
              <a:gd name="adj" fmla="val 16667"/>
            </a:avLst>
          </a:prstGeom>
          <a:solidFill>
            <a:srgbClr val="EEECE1"/>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457200" lvl="0" indent="-304800" algn="just" rtl="0">
              <a:lnSpc>
                <a:spcPct val="150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The NodeMCU ESP32 board is a versatile development platform widely used in IoT (Internet of Things) projects. </a:t>
            </a:r>
            <a:endParaRPr sz="1200">
              <a:latin typeface="Times New Roman"/>
              <a:ea typeface="Times New Roman"/>
              <a:cs typeface="Times New Roman"/>
              <a:sym typeface="Times New Roman"/>
            </a:endParaRPr>
          </a:p>
          <a:p>
            <a:pPr marL="457200" lvl="0" indent="-304800" algn="just" rtl="0">
              <a:lnSpc>
                <a:spcPct val="150000"/>
              </a:lnSpc>
              <a:spcBef>
                <a:spcPts val="1000"/>
              </a:spcBef>
              <a:spcAft>
                <a:spcPts val="0"/>
              </a:spcAft>
              <a:buSzPts val="1200"/>
              <a:buFont typeface="Times New Roman"/>
              <a:buChar char="●"/>
            </a:pPr>
            <a:r>
              <a:rPr lang="en" sz="1200">
                <a:latin typeface="Times New Roman"/>
                <a:ea typeface="Times New Roman"/>
                <a:cs typeface="Times New Roman"/>
                <a:sym typeface="Times New Roman"/>
              </a:rPr>
              <a:t>It integrates the ESP32 microcontroller, which features dual-core processing, Bluetooth, Wi-Fi connectivity, and ample GPIO pins. </a:t>
            </a:r>
            <a:endParaRPr sz="1200">
              <a:latin typeface="Times New Roman"/>
              <a:ea typeface="Times New Roman"/>
              <a:cs typeface="Times New Roman"/>
              <a:sym typeface="Times New Roman"/>
            </a:endParaRPr>
          </a:p>
          <a:p>
            <a:pPr marL="457200" lvl="0" indent="-304800" algn="just" rtl="0">
              <a:lnSpc>
                <a:spcPct val="150000"/>
              </a:lnSpc>
              <a:spcBef>
                <a:spcPts val="1000"/>
              </a:spcBef>
              <a:spcAft>
                <a:spcPts val="1000"/>
              </a:spcAft>
              <a:buSzPts val="1200"/>
              <a:buFont typeface="Times New Roman"/>
              <a:buChar char="●"/>
            </a:pPr>
            <a:r>
              <a:rPr lang="en" sz="1200">
                <a:latin typeface="Times New Roman"/>
                <a:ea typeface="Times New Roman"/>
                <a:cs typeface="Times New Roman"/>
                <a:sym typeface="Times New Roman"/>
              </a:rPr>
              <a:t>The board supports a variety of programming environments including Arduino IDE and MicroPython, making it accessible for both beginners and experienced developers.</a:t>
            </a:r>
            <a:endParaRPr sz="1200">
              <a:latin typeface="Times New Roman"/>
              <a:ea typeface="Times New Roman"/>
              <a:cs typeface="Times New Roman"/>
              <a:sym typeface="Times New Roman"/>
            </a:endParaRPr>
          </a:p>
        </p:txBody>
      </p:sp>
      <p:pic>
        <p:nvPicPr>
          <p:cNvPr id="233" name="Google Shape;233;p40"/>
          <p:cNvPicPr preferRelativeResize="0"/>
          <p:nvPr/>
        </p:nvPicPr>
        <p:blipFill>
          <a:blip r:embed="rId3">
            <a:alphaModFix/>
          </a:blip>
          <a:stretch>
            <a:fillRect/>
          </a:stretch>
        </p:blipFill>
        <p:spPr>
          <a:xfrm>
            <a:off x="5460325" y="1724388"/>
            <a:ext cx="2999175" cy="30077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1"/>
          <p:cNvSpPr txBox="1">
            <a:spLocks noGrp="1"/>
          </p:cNvSpPr>
          <p:nvPr>
            <p:ph type="title"/>
          </p:nvPr>
        </p:nvSpPr>
        <p:spPr>
          <a:xfrm>
            <a:off x="476818" y="318046"/>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C4BD97"/>
              </a:buClr>
              <a:buSzPts val="3600"/>
              <a:buFont typeface="Calibri"/>
              <a:buNone/>
            </a:pPr>
            <a:r>
              <a:rPr lang="en" sz="2400" b="1">
                <a:solidFill>
                  <a:srgbClr val="0070C0"/>
                </a:solidFill>
                <a:latin typeface="Times New Roman"/>
                <a:ea typeface="Times New Roman"/>
                <a:cs typeface="Times New Roman"/>
                <a:sym typeface="Times New Roman"/>
              </a:rPr>
              <a:t>ESP32 FEATURES</a:t>
            </a:r>
            <a:endParaRPr sz="2400" b="1">
              <a:solidFill>
                <a:srgbClr val="0070C0"/>
              </a:solidFill>
              <a:latin typeface="Times New Roman"/>
              <a:ea typeface="Times New Roman"/>
              <a:cs typeface="Times New Roman"/>
              <a:sym typeface="Times New Roman"/>
            </a:endParaRPr>
          </a:p>
        </p:txBody>
      </p:sp>
      <p:sp>
        <p:nvSpPr>
          <p:cNvPr id="239" name="Google Shape;239;p41"/>
          <p:cNvSpPr txBox="1"/>
          <p:nvPr/>
        </p:nvSpPr>
        <p:spPr>
          <a:xfrm>
            <a:off x="448950" y="1311675"/>
            <a:ext cx="7590000" cy="3206700"/>
          </a:xfrm>
          <a:prstGeom prst="rect">
            <a:avLst/>
          </a:prstGeom>
          <a:noFill/>
          <a:ln>
            <a:noFill/>
          </a:ln>
        </p:spPr>
        <p:txBody>
          <a:bodyPr spcFirstLastPara="1" wrap="square" lIns="91425" tIns="91425" rIns="91425" bIns="91425" anchor="t" anchorCtr="0">
            <a:spAutoFit/>
          </a:bodyPr>
          <a:lstStyle/>
          <a:p>
            <a:pPr marL="457200" lvl="0" indent="-304800" algn="l" rtl="0">
              <a:lnSpc>
                <a:spcPct val="150000"/>
              </a:lnSpc>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NodeMCU based on ESP-WROOM-32 module</a:t>
            </a: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10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30 GPIO Version</a:t>
            </a: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10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ESP32 is a dual-core 32-bit processor with built-in 2.4 GHz Wi-Fi and Bluetooth</a:t>
            </a: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10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4 MByte flash memory</a:t>
            </a: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10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520 KByte SRAM</a:t>
            </a: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10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2.2 to 3.6V Operating voltage range</a:t>
            </a: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10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In breadboard-friendly breakout</a:t>
            </a:r>
            <a:endParaRPr sz="1200" dirty="0">
              <a:solidFill>
                <a:schemeClr val="dk1"/>
              </a:solidFill>
              <a:latin typeface="Times New Roman"/>
              <a:ea typeface="Times New Roman"/>
              <a:cs typeface="Times New Roman"/>
              <a:sym typeface="Times New Roman"/>
            </a:endParaRPr>
          </a:p>
          <a:p>
            <a:pPr marL="457200" lvl="0" indent="-304800" algn="l" rtl="0">
              <a:lnSpc>
                <a:spcPct val="150000"/>
              </a:lnSpc>
              <a:spcBef>
                <a:spcPts val="1000"/>
              </a:spcBef>
              <a:spcAft>
                <a:spcPts val="100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USB micro B for power and Serial communication used to load the program and serial debugging too</a:t>
            </a:r>
            <a:endParaRPr sz="1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42"/>
          <p:cNvPicPr preferRelativeResize="0"/>
          <p:nvPr/>
        </p:nvPicPr>
        <p:blipFill>
          <a:blip r:embed="rId3">
            <a:alphaModFix/>
          </a:blip>
          <a:stretch>
            <a:fillRect/>
          </a:stretch>
        </p:blipFill>
        <p:spPr>
          <a:xfrm>
            <a:off x="345988" y="321276"/>
            <a:ext cx="7537623" cy="4168346"/>
          </a:xfrm>
          <a:prstGeom prst="rect">
            <a:avLst/>
          </a:prstGeom>
          <a:noFill/>
          <a:ln>
            <a:noFill/>
          </a:ln>
        </p:spPr>
      </p:pic>
      <p:sp>
        <p:nvSpPr>
          <p:cNvPr id="245" name="Google Shape;245;p42"/>
          <p:cNvSpPr txBox="1"/>
          <p:nvPr/>
        </p:nvSpPr>
        <p:spPr>
          <a:xfrm>
            <a:off x="2937850" y="4673900"/>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400" b="1">
                <a:solidFill>
                  <a:schemeClr val="dk1"/>
                </a:solidFill>
                <a:latin typeface="Times New Roman"/>
                <a:ea typeface="Times New Roman"/>
                <a:cs typeface="Times New Roman"/>
                <a:sym typeface="Times New Roman"/>
              </a:rPr>
              <a:t>ESP32 PINOUT</a:t>
            </a:r>
            <a:endParaRPr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7"/>
          <p:cNvSpPr txBox="1">
            <a:spLocks noGrp="1"/>
          </p:cNvSpPr>
          <p:nvPr>
            <p:ph type="title"/>
          </p:nvPr>
        </p:nvSpPr>
        <p:spPr>
          <a:xfrm>
            <a:off x="471943" y="218821"/>
            <a:ext cx="6827700" cy="725400"/>
          </a:xfrm>
          <a:prstGeom prst="rect">
            <a:avLst/>
          </a:prstGeom>
          <a:noFill/>
          <a:ln>
            <a:noFill/>
          </a:ln>
        </p:spPr>
        <p:txBody>
          <a:bodyPr spcFirstLastPara="1" wrap="square" lIns="68575" tIns="34275" rIns="68575" bIns="34275" anchor="b" anchorCtr="0">
            <a:normAutofit/>
          </a:bodyPr>
          <a:lstStyle/>
          <a:p>
            <a:pPr marL="0" lvl="0" indent="0" algn="l" rtl="0">
              <a:lnSpc>
                <a:spcPct val="100000"/>
              </a:lnSpc>
              <a:spcBef>
                <a:spcPts val="0"/>
              </a:spcBef>
              <a:spcAft>
                <a:spcPts val="0"/>
              </a:spcAft>
              <a:buClr>
                <a:schemeClr val="lt1"/>
              </a:buClr>
              <a:buSzPts val="2100"/>
              <a:buFont typeface="Gill Sans"/>
              <a:buNone/>
            </a:pPr>
            <a:r>
              <a:rPr lang="en" sz="2400" b="1">
                <a:latin typeface="Times New Roman"/>
                <a:ea typeface="Times New Roman"/>
                <a:cs typeface="Times New Roman"/>
                <a:sym typeface="Times New Roman"/>
              </a:rPr>
              <a:t>ARDUINO IDE PROGRAMMING SOFTWARE</a:t>
            </a:r>
            <a:endParaRPr sz="2400" b="1">
              <a:latin typeface="Times New Roman"/>
              <a:ea typeface="Times New Roman"/>
              <a:cs typeface="Times New Roman"/>
              <a:sym typeface="Times New Roman"/>
            </a:endParaRPr>
          </a:p>
        </p:txBody>
      </p:sp>
      <p:sp>
        <p:nvSpPr>
          <p:cNvPr id="280" name="Google Shape;280;p47"/>
          <p:cNvSpPr txBox="1">
            <a:spLocks noGrp="1"/>
          </p:cNvSpPr>
          <p:nvPr>
            <p:ph type="body" idx="1"/>
          </p:nvPr>
        </p:nvSpPr>
        <p:spPr>
          <a:xfrm>
            <a:off x="471949" y="1069250"/>
            <a:ext cx="5114700" cy="3619200"/>
          </a:xfrm>
          <a:prstGeom prst="rect">
            <a:avLst/>
          </a:prstGeom>
          <a:noFill/>
          <a:ln>
            <a:noFill/>
          </a:ln>
        </p:spPr>
        <p:txBody>
          <a:bodyPr spcFirstLastPara="1" wrap="square" lIns="68575" tIns="34275" rIns="68575" bIns="34275" anchor="ctr" anchorCtr="0">
            <a:normAutofit/>
          </a:bodyPr>
          <a:lstStyle/>
          <a:p>
            <a:pPr marL="228600" lvl="0" indent="-228600" algn="just" rtl="0">
              <a:lnSpc>
                <a:spcPct val="150000"/>
              </a:lnSpc>
              <a:spcBef>
                <a:spcPts val="0"/>
              </a:spcBef>
              <a:spcAft>
                <a:spcPts val="0"/>
              </a:spcAft>
              <a:buSzPts val="1200"/>
              <a:buFont typeface="Times New Roman"/>
              <a:buChar char="◼"/>
            </a:pPr>
            <a:r>
              <a:rPr lang="en" sz="1200">
                <a:latin typeface="Times New Roman"/>
                <a:ea typeface="Times New Roman"/>
                <a:cs typeface="Times New Roman"/>
                <a:sym typeface="Times New Roman"/>
              </a:rPr>
              <a:t>The Arduino Integrated Development Environment (IDE) is a cross-platform application (for Windows, macOS, Linux) that is written in functions from C and C++. It is used to write and upload programs to Arduino compatible boards, but also, with the help of third-party cores, other vendor development boards.</a:t>
            </a:r>
            <a:endParaRPr sz="1200">
              <a:latin typeface="Times New Roman"/>
              <a:ea typeface="Times New Roman"/>
              <a:cs typeface="Times New Roman"/>
              <a:sym typeface="Times New Roman"/>
            </a:endParaRPr>
          </a:p>
          <a:p>
            <a:pPr marL="228600" lvl="0" indent="-228600" algn="just" rtl="0">
              <a:lnSpc>
                <a:spcPct val="150000"/>
              </a:lnSpc>
              <a:spcBef>
                <a:spcPts val="700"/>
              </a:spcBef>
              <a:spcAft>
                <a:spcPts val="0"/>
              </a:spcAft>
              <a:buSzPts val="1200"/>
              <a:buFont typeface="Times New Roman"/>
              <a:buChar char="◼"/>
            </a:pPr>
            <a:r>
              <a:rPr lang="en" sz="1200">
                <a:latin typeface="Times New Roman"/>
                <a:ea typeface="Times New Roman"/>
                <a:cs typeface="Times New Roman"/>
                <a:sym typeface="Times New Roman"/>
              </a:rPr>
              <a:t> Arduino code is written in C++ with an addition of special methods and functions, which we'll mention later on. C++ is a human-readable programming language. When you create a 'sketch' (the name given to Arduino code files), it is processed and compiled to machine language.</a:t>
            </a:r>
            <a:endParaRPr sz="1200">
              <a:latin typeface="Times New Roman"/>
              <a:ea typeface="Times New Roman"/>
              <a:cs typeface="Times New Roman"/>
              <a:sym typeface="Times New Roman"/>
            </a:endParaRPr>
          </a:p>
        </p:txBody>
      </p:sp>
      <p:pic>
        <p:nvPicPr>
          <p:cNvPr id="281" name="Google Shape;281;p47" descr="Introduction to Arduino IDE - The Engineering Projects"/>
          <p:cNvPicPr preferRelativeResize="0"/>
          <p:nvPr/>
        </p:nvPicPr>
        <p:blipFill rotWithShape="1">
          <a:blip r:embed="rId3">
            <a:alphaModFix/>
          </a:blip>
          <a:srcRect/>
          <a:stretch/>
        </p:blipFill>
        <p:spPr>
          <a:xfrm>
            <a:off x="5754282" y="1649112"/>
            <a:ext cx="3233199" cy="33457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3"/>
          <p:cNvSpPr txBox="1">
            <a:spLocks noGrp="1"/>
          </p:cNvSpPr>
          <p:nvPr>
            <p:ph type="title"/>
          </p:nvPr>
        </p:nvSpPr>
        <p:spPr>
          <a:xfrm>
            <a:off x="195293" y="82571"/>
            <a:ext cx="6827700" cy="725400"/>
          </a:xfrm>
          <a:prstGeom prst="rect">
            <a:avLst/>
          </a:prstGeom>
          <a:noFill/>
          <a:ln>
            <a:noFill/>
          </a:ln>
        </p:spPr>
        <p:txBody>
          <a:bodyPr spcFirstLastPara="1" wrap="square" lIns="68575" tIns="34275" rIns="68575" bIns="34275" anchor="b" anchorCtr="0">
            <a:normAutofit/>
          </a:bodyPr>
          <a:lstStyle/>
          <a:p>
            <a:pPr marL="0" lvl="0" indent="0" algn="l" rtl="0">
              <a:lnSpc>
                <a:spcPct val="100000"/>
              </a:lnSpc>
              <a:spcBef>
                <a:spcPts val="0"/>
              </a:spcBef>
              <a:spcAft>
                <a:spcPts val="0"/>
              </a:spcAft>
              <a:buClr>
                <a:schemeClr val="lt1"/>
              </a:buClr>
              <a:buSzPts val="2100"/>
              <a:buFont typeface="Gill Sans"/>
              <a:buNone/>
            </a:pPr>
            <a:r>
              <a:rPr lang="en" sz="2400" b="1">
                <a:solidFill>
                  <a:srgbClr val="0070C0"/>
                </a:solidFill>
                <a:latin typeface="Times New Roman"/>
                <a:ea typeface="Times New Roman"/>
                <a:cs typeface="Times New Roman"/>
                <a:sym typeface="Times New Roman"/>
              </a:rPr>
              <a:t>MQ SENSOR</a:t>
            </a:r>
            <a:endParaRPr sz="2400" b="1">
              <a:solidFill>
                <a:srgbClr val="0070C0"/>
              </a:solidFill>
              <a:latin typeface="Times New Roman"/>
              <a:ea typeface="Times New Roman"/>
              <a:cs typeface="Times New Roman"/>
              <a:sym typeface="Times New Roman"/>
            </a:endParaRPr>
          </a:p>
        </p:txBody>
      </p:sp>
      <p:pic>
        <p:nvPicPr>
          <p:cNvPr id="251" name="Google Shape;251;p43" descr="MQ-6 Gas Sensor"/>
          <p:cNvPicPr preferRelativeResize="0"/>
          <p:nvPr/>
        </p:nvPicPr>
        <p:blipFill rotWithShape="1">
          <a:blip r:embed="rId3">
            <a:alphaModFix/>
          </a:blip>
          <a:srcRect/>
          <a:stretch/>
        </p:blipFill>
        <p:spPr>
          <a:xfrm>
            <a:off x="6223225" y="1285103"/>
            <a:ext cx="2222625" cy="2865896"/>
          </a:xfrm>
          <a:prstGeom prst="rect">
            <a:avLst/>
          </a:prstGeom>
          <a:noFill/>
          <a:ln>
            <a:noFill/>
          </a:ln>
        </p:spPr>
      </p:pic>
      <p:sp>
        <p:nvSpPr>
          <p:cNvPr id="252" name="Google Shape;252;p43"/>
          <p:cNvSpPr txBox="1"/>
          <p:nvPr/>
        </p:nvSpPr>
        <p:spPr>
          <a:xfrm>
            <a:off x="402450" y="1057100"/>
            <a:ext cx="5358600" cy="3093900"/>
          </a:xfrm>
          <a:prstGeom prst="rect">
            <a:avLst/>
          </a:prstGeom>
          <a:noFill/>
          <a:ln>
            <a:noFill/>
          </a:ln>
        </p:spPr>
        <p:txBody>
          <a:bodyPr spcFirstLastPara="1" wrap="square" lIns="68575" tIns="68575" rIns="68575" bIns="68575" anchor="t" anchorCtr="0">
            <a:spAutoFit/>
          </a:bodyPr>
          <a:lstStyle/>
          <a:p>
            <a:pPr marL="0" lvl="0" indent="0" algn="l" rtl="0">
              <a:lnSpc>
                <a:spcPct val="150000"/>
              </a:lnSpc>
              <a:spcBef>
                <a:spcPts val="0"/>
              </a:spcBef>
              <a:spcAft>
                <a:spcPts val="0"/>
              </a:spcAft>
              <a:buNone/>
            </a:pPr>
            <a:r>
              <a:rPr lang="en" sz="1200" b="1" dirty="0">
                <a:latin typeface="Times New Roman"/>
                <a:ea typeface="Times New Roman"/>
                <a:cs typeface="Times New Roman"/>
                <a:sym typeface="Times New Roman"/>
              </a:rPr>
              <a:t>Different Types of Gas sensors</a:t>
            </a:r>
            <a:endParaRPr sz="1200" dirty="0">
              <a:latin typeface="Times New Roman"/>
              <a:ea typeface="Times New Roman"/>
              <a:cs typeface="Times New Roman"/>
              <a:sym typeface="Times New Roman"/>
            </a:endParaRPr>
          </a:p>
          <a:p>
            <a:pPr marL="0" lvl="0" indent="0" algn="just" rtl="0">
              <a:lnSpc>
                <a:spcPct val="150000"/>
              </a:lnSpc>
              <a:spcBef>
                <a:spcPts val="0"/>
              </a:spcBef>
              <a:spcAft>
                <a:spcPts val="0"/>
              </a:spcAft>
              <a:buNone/>
            </a:pPr>
            <a:r>
              <a:rPr lang="en" sz="1200" dirty="0">
                <a:latin typeface="Times New Roman"/>
                <a:ea typeface="Times New Roman"/>
                <a:cs typeface="Times New Roman"/>
                <a:sym typeface="Times New Roman"/>
              </a:rPr>
              <a:t>Gas sensors are typically classified into various types based on the type of the sensing element it is built with. Below is the classification of the various types of gas sensors based on the sensing element that are generally used in various applications:</a:t>
            </a:r>
            <a:endParaRPr sz="1200" dirty="0">
              <a:latin typeface="Times New Roman"/>
              <a:ea typeface="Times New Roman"/>
              <a:cs typeface="Times New Roman"/>
              <a:sym typeface="Times New Roman"/>
            </a:endParaRPr>
          </a:p>
          <a:p>
            <a:pPr marL="0" lvl="0" indent="0" algn="just" rtl="0">
              <a:lnSpc>
                <a:spcPct val="150000"/>
              </a:lnSpc>
              <a:spcBef>
                <a:spcPts val="0"/>
              </a:spcBef>
              <a:spcAft>
                <a:spcPts val="0"/>
              </a:spcAft>
              <a:buNone/>
            </a:pPr>
            <a:endParaRPr sz="1200" dirty="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Metal Oxide based gas Sensor.</a:t>
            </a:r>
            <a:endParaRPr sz="1200" dirty="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Optical gas Sensor.</a:t>
            </a:r>
            <a:endParaRPr sz="1200" dirty="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Electrochemical gas Sensor.</a:t>
            </a:r>
            <a:endParaRPr sz="1200" dirty="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Capacitance-based gas Sensor.</a:t>
            </a:r>
            <a:endParaRPr sz="1200" dirty="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Calorimetric gas Sensor.</a:t>
            </a:r>
            <a:endParaRPr sz="1200" dirty="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Acoustic based gas Sensor.</a:t>
            </a:r>
            <a:endParaRPr sz="1200" dirty="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44" descr="DHT11 Sensor Pinout"/>
          <p:cNvPicPr preferRelativeResize="0"/>
          <p:nvPr/>
        </p:nvPicPr>
        <p:blipFill rotWithShape="1">
          <a:blip r:embed="rId3">
            <a:alphaModFix/>
          </a:blip>
          <a:srcRect/>
          <a:stretch/>
        </p:blipFill>
        <p:spPr>
          <a:xfrm>
            <a:off x="5325736" y="1460827"/>
            <a:ext cx="3571875" cy="3250406"/>
          </a:xfrm>
          <a:prstGeom prst="rect">
            <a:avLst/>
          </a:prstGeom>
          <a:noFill/>
          <a:ln>
            <a:noFill/>
          </a:ln>
        </p:spPr>
      </p:pic>
      <p:sp>
        <p:nvSpPr>
          <p:cNvPr id="258" name="Google Shape;258;p44"/>
          <p:cNvSpPr/>
          <p:nvPr/>
        </p:nvSpPr>
        <p:spPr>
          <a:xfrm>
            <a:off x="689250" y="1631798"/>
            <a:ext cx="4051500" cy="2388300"/>
          </a:xfrm>
          <a:prstGeom prst="rect">
            <a:avLst/>
          </a:prstGeom>
          <a:noFill/>
          <a:ln w="14300"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457200" marR="0" lvl="0" indent="-304800" algn="just" rtl="0">
              <a:lnSpc>
                <a:spcPct val="150000"/>
              </a:lnSpc>
              <a:spcBef>
                <a:spcPts val="0"/>
              </a:spcBef>
              <a:spcAft>
                <a:spcPts val="0"/>
              </a:spcAft>
              <a:buClr>
                <a:schemeClr val="dk1"/>
              </a:buClr>
              <a:buSzPts val="1200"/>
              <a:buFont typeface="Times New Roman"/>
              <a:buChar char="●"/>
            </a:pPr>
            <a:r>
              <a:rPr lang="en" sz="1200" i="0" u="none" strike="noStrike" cap="none">
                <a:solidFill>
                  <a:schemeClr val="dk1"/>
                </a:solidFill>
                <a:latin typeface="Times New Roman"/>
                <a:ea typeface="Times New Roman"/>
                <a:cs typeface="Times New Roman"/>
                <a:sym typeface="Times New Roman"/>
              </a:rPr>
              <a:t>The DHT11 is a commonly used Temperature and humidity sensor that comes with a dedicated NTC to measure temperature and an 8-bit microcontroller to output the values of temperature and humidity as serial data.</a:t>
            </a:r>
            <a:endParaRPr sz="1200" i="0" u="none" strike="noStrike" cap="none">
              <a:solidFill>
                <a:schemeClr val="dk1"/>
              </a:solidFill>
              <a:latin typeface="Times New Roman"/>
              <a:ea typeface="Times New Roman"/>
              <a:cs typeface="Times New Roman"/>
              <a:sym typeface="Times New Roman"/>
            </a:endParaRPr>
          </a:p>
        </p:txBody>
      </p:sp>
      <p:sp>
        <p:nvSpPr>
          <p:cNvPr id="259" name="Google Shape;259;p44"/>
          <p:cNvSpPr txBox="1"/>
          <p:nvPr/>
        </p:nvSpPr>
        <p:spPr>
          <a:xfrm>
            <a:off x="403200" y="552050"/>
            <a:ext cx="3126000" cy="5079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2400" b="1">
                <a:solidFill>
                  <a:srgbClr val="0070C0"/>
                </a:solidFill>
                <a:latin typeface="Times New Roman"/>
                <a:ea typeface="Times New Roman"/>
                <a:cs typeface="Times New Roman"/>
                <a:sym typeface="Times New Roman"/>
              </a:rPr>
              <a:t>DHT11 SENSOR</a:t>
            </a:r>
            <a:endParaRPr sz="2400">
              <a:solidFill>
                <a:srgbClr val="0070C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5"/>
          <p:cNvSpPr txBox="1">
            <a:spLocks noGrp="1"/>
          </p:cNvSpPr>
          <p:nvPr>
            <p:ph type="title"/>
          </p:nvPr>
        </p:nvSpPr>
        <p:spPr>
          <a:xfrm>
            <a:off x="476818" y="318046"/>
            <a:ext cx="6827700" cy="725400"/>
          </a:xfrm>
          <a:prstGeom prst="rect">
            <a:avLst/>
          </a:prstGeom>
          <a:noFill/>
          <a:ln>
            <a:noFill/>
          </a:ln>
        </p:spPr>
        <p:txBody>
          <a:bodyPr spcFirstLastPara="1" wrap="square" lIns="68575" tIns="34275" rIns="68575" bIns="34275" anchor="b" anchorCtr="0">
            <a:normAutofit/>
          </a:bodyPr>
          <a:lstStyle/>
          <a:p>
            <a:pPr marL="0" lvl="0" indent="0" algn="l" rtl="0">
              <a:lnSpc>
                <a:spcPct val="100000"/>
              </a:lnSpc>
              <a:spcBef>
                <a:spcPts val="0"/>
              </a:spcBef>
              <a:spcAft>
                <a:spcPts val="0"/>
              </a:spcAft>
              <a:buClr>
                <a:schemeClr val="lt1"/>
              </a:buClr>
              <a:buSzPts val="2100"/>
              <a:buFont typeface="Gill Sans"/>
              <a:buNone/>
            </a:pPr>
            <a:r>
              <a:rPr lang="en" sz="2400" b="1">
                <a:solidFill>
                  <a:srgbClr val="0070C0"/>
                </a:solidFill>
                <a:latin typeface="Times New Roman"/>
                <a:ea typeface="Times New Roman"/>
                <a:cs typeface="Times New Roman"/>
                <a:sym typeface="Times New Roman"/>
              </a:rPr>
              <a:t>BUZZER</a:t>
            </a:r>
            <a:endParaRPr sz="2400" b="1">
              <a:solidFill>
                <a:srgbClr val="0070C0"/>
              </a:solidFill>
              <a:latin typeface="Times New Roman"/>
              <a:ea typeface="Times New Roman"/>
              <a:cs typeface="Times New Roman"/>
              <a:sym typeface="Times New Roman"/>
            </a:endParaRPr>
          </a:p>
        </p:txBody>
      </p:sp>
      <p:pic>
        <p:nvPicPr>
          <p:cNvPr id="265" name="Google Shape;265;p45" descr="Input Voltage(Max.) : 5V Resistance: 42Ohm; Resonance Frequency: 2048HZ Body Size : 12 x 8mm  Pin Pitch: 6mm  External Material: Plastic; Color: Black"/>
          <p:cNvPicPr preferRelativeResize="0"/>
          <p:nvPr/>
        </p:nvPicPr>
        <p:blipFill rotWithShape="1">
          <a:blip r:embed="rId3">
            <a:alphaModFix/>
          </a:blip>
          <a:srcRect/>
          <a:stretch/>
        </p:blipFill>
        <p:spPr>
          <a:xfrm>
            <a:off x="5737774" y="930877"/>
            <a:ext cx="2516539" cy="2831024"/>
          </a:xfrm>
          <a:prstGeom prst="rect">
            <a:avLst/>
          </a:prstGeom>
          <a:noFill/>
          <a:ln>
            <a:noFill/>
          </a:ln>
        </p:spPr>
      </p:pic>
      <p:sp>
        <p:nvSpPr>
          <p:cNvPr id="266" name="Google Shape;266;p45"/>
          <p:cNvSpPr/>
          <p:nvPr/>
        </p:nvSpPr>
        <p:spPr>
          <a:xfrm>
            <a:off x="528325" y="1913850"/>
            <a:ext cx="4257000" cy="1717800"/>
          </a:xfrm>
          <a:prstGeom prst="rect">
            <a:avLst/>
          </a:prstGeom>
          <a:noFill/>
          <a:ln>
            <a:noFill/>
          </a:ln>
        </p:spPr>
        <p:txBody>
          <a:bodyPr spcFirstLastPara="1" wrap="square" lIns="68575" tIns="34275" rIns="68575" bIns="34275" anchor="t" anchorCtr="0">
            <a:noAutofit/>
          </a:bodyPr>
          <a:lstStyle/>
          <a:p>
            <a:pPr marL="457200" marR="0" lvl="0" indent="-304800" algn="just" rtl="0">
              <a:lnSpc>
                <a:spcPct val="150000"/>
              </a:lnSpc>
              <a:spcBef>
                <a:spcPts val="0"/>
              </a:spcBef>
              <a:spcAft>
                <a:spcPts val="0"/>
              </a:spcAft>
              <a:buClr>
                <a:srgbClr val="202122"/>
              </a:buClr>
              <a:buSzPts val="1200"/>
              <a:buFont typeface="Times New Roman"/>
              <a:buChar char="●"/>
            </a:pPr>
            <a:r>
              <a:rPr lang="en" sz="1200" i="0" u="none" strike="noStrike" cap="none">
                <a:solidFill>
                  <a:srgbClr val="202122"/>
                </a:solidFill>
                <a:latin typeface="Times New Roman"/>
                <a:ea typeface="Times New Roman"/>
                <a:cs typeface="Times New Roman"/>
                <a:sym typeface="Times New Roman"/>
              </a:rPr>
              <a:t>A </a:t>
            </a:r>
            <a:r>
              <a:rPr lang="en" sz="1200" b="1" i="0" u="none" strike="noStrike" cap="none">
                <a:solidFill>
                  <a:srgbClr val="202122"/>
                </a:solidFill>
                <a:latin typeface="Times New Roman"/>
                <a:ea typeface="Times New Roman"/>
                <a:cs typeface="Times New Roman"/>
                <a:sym typeface="Times New Roman"/>
              </a:rPr>
              <a:t>buzzer</a:t>
            </a:r>
            <a:r>
              <a:rPr lang="en" sz="1200" i="0" u="none" strike="noStrike" cap="none">
                <a:solidFill>
                  <a:srgbClr val="202122"/>
                </a:solidFill>
                <a:latin typeface="Times New Roman"/>
                <a:ea typeface="Times New Roman"/>
                <a:cs typeface="Times New Roman"/>
                <a:sym typeface="Times New Roman"/>
              </a:rPr>
              <a:t> or </a:t>
            </a:r>
            <a:r>
              <a:rPr lang="en" sz="1200" b="1" i="0" u="none" strike="noStrike" cap="none">
                <a:solidFill>
                  <a:srgbClr val="202122"/>
                </a:solidFill>
                <a:latin typeface="Times New Roman"/>
                <a:ea typeface="Times New Roman"/>
                <a:cs typeface="Times New Roman"/>
                <a:sym typeface="Times New Roman"/>
              </a:rPr>
              <a:t>beeper</a:t>
            </a:r>
            <a:r>
              <a:rPr lang="en" sz="1200" i="0" u="none" strike="noStrike" cap="none">
                <a:solidFill>
                  <a:srgbClr val="202122"/>
                </a:solidFill>
                <a:latin typeface="Times New Roman"/>
                <a:ea typeface="Times New Roman"/>
                <a:cs typeface="Times New Roman"/>
                <a:sym typeface="Times New Roman"/>
              </a:rPr>
              <a:t> is an </a:t>
            </a:r>
            <a:r>
              <a:rPr lang="en" sz="1200" u="none">
                <a:solidFill>
                  <a:srgbClr val="202122"/>
                </a:solidFill>
                <a:latin typeface="Times New Roman"/>
                <a:ea typeface="Times New Roman"/>
                <a:cs typeface="Times New Roman"/>
                <a:sym typeface="Times New Roman"/>
              </a:rPr>
              <a:t>audio </a:t>
            </a:r>
            <a:r>
              <a:rPr lang="en" sz="1200" i="0" u="none" strike="noStrike" cap="none">
                <a:solidFill>
                  <a:srgbClr val="202122"/>
                </a:solidFill>
                <a:latin typeface="Times New Roman"/>
                <a:ea typeface="Times New Roman"/>
                <a:cs typeface="Times New Roman"/>
                <a:sym typeface="Times New Roman"/>
              </a:rPr>
              <a:t>signaling device, which may be </a:t>
            </a:r>
            <a:r>
              <a:rPr lang="en" sz="1200">
                <a:solidFill>
                  <a:srgbClr val="202122"/>
                </a:solidFill>
                <a:latin typeface="Times New Roman"/>
                <a:ea typeface="Times New Roman"/>
                <a:cs typeface="Times New Roman"/>
                <a:sym typeface="Times New Roman"/>
              </a:rPr>
              <a:t>mechanical, electromechanical,</a:t>
            </a:r>
            <a:r>
              <a:rPr lang="en" sz="1200" i="0" u="none" strike="noStrike" cap="none">
                <a:solidFill>
                  <a:srgbClr val="202122"/>
                </a:solidFill>
                <a:latin typeface="Times New Roman"/>
                <a:ea typeface="Times New Roman"/>
                <a:cs typeface="Times New Roman"/>
                <a:sym typeface="Times New Roman"/>
              </a:rPr>
              <a:t> or </a:t>
            </a:r>
            <a:r>
              <a:rPr lang="en" sz="1200">
                <a:solidFill>
                  <a:srgbClr val="202122"/>
                </a:solidFill>
                <a:latin typeface="Times New Roman"/>
                <a:ea typeface="Times New Roman"/>
                <a:cs typeface="Times New Roman"/>
                <a:sym typeface="Times New Roman"/>
              </a:rPr>
              <a:t>piezoelectric</a:t>
            </a:r>
            <a:r>
              <a:rPr lang="en" sz="1200" u="none">
                <a:solidFill>
                  <a:srgbClr val="202122"/>
                </a:solidFill>
                <a:latin typeface="Times New Roman"/>
                <a:ea typeface="Times New Roman"/>
                <a:cs typeface="Times New Roman"/>
                <a:sym typeface="Times New Roman"/>
              </a:rPr>
              <a:t> </a:t>
            </a:r>
            <a:r>
              <a:rPr lang="en" sz="1200" i="0" u="none" strike="noStrike" cap="none">
                <a:solidFill>
                  <a:srgbClr val="202122"/>
                </a:solidFill>
                <a:latin typeface="Times New Roman"/>
                <a:ea typeface="Times New Roman"/>
                <a:cs typeface="Times New Roman"/>
                <a:sym typeface="Times New Roman"/>
              </a:rPr>
              <a:t> (</a:t>
            </a:r>
            <a:r>
              <a:rPr lang="en" sz="1200" i="1" u="none" strike="noStrike" cap="none">
                <a:solidFill>
                  <a:srgbClr val="202122"/>
                </a:solidFill>
                <a:latin typeface="Times New Roman"/>
                <a:ea typeface="Times New Roman"/>
                <a:cs typeface="Times New Roman"/>
                <a:sym typeface="Times New Roman"/>
              </a:rPr>
              <a:t>piezo</a:t>
            </a:r>
            <a:r>
              <a:rPr lang="en" sz="1200" i="0" u="none" strike="noStrike" cap="none">
                <a:solidFill>
                  <a:srgbClr val="202122"/>
                </a:solidFill>
                <a:latin typeface="Times New Roman"/>
                <a:ea typeface="Times New Roman"/>
                <a:cs typeface="Times New Roman"/>
                <a:sym typeface="Times New Roman"/>
              </a:rPr>
              <a:t> for short). </a:t>
            </a:r>
            <a:endParaRPr sz="1200" i="0" u="none" strike="noStrike" cap="none">
              <a:solidFill>
                <a:srgbClr val="202122"/>
              </a:solidFill>
              <a:latin typeface="Times New Roman"/>
              <a:ea typeface="Times New Roman"/>
              <a:cs typeface="Times New Roman"/>
              <a:sym typeface="Times New Roman"/>
            </a:endParaRPr>
          </a:p>
          <a:p>
            <a:pPr marL="457200" marR="0" lvl="0" indent="-304800" algn="just" rtl="0">
              <a:lnSpc>
                <a:spcPct val="150000"/>
              </a:lnSpc>
              <a:spcBef>
                <a:spcPts val="0"/>
              </a:spcBef>
              <a:spcAft>
                <a:spcPts val="0"/>
              </a:spcAft>
              <a:buClr>
                <a:srgbClr val="202122"/>
              </a:buClr>
              <a:buSzPts val="1200"/>
              <a:buFont typeface="Times New Roman"/>
              <a:buChar char="●"/>
            </a:pPr>
            <a:r>
              <a:rPr lang="en" sz="1200" i="0" u="none" strike="noStrike" cap="none">
                <a:solidFill>
                  <a:srgbClr val="202122"/>
                </a:solidFill>
                <a:latin typeface="Times New Roman"/>
                <a:ea typeface="Times New Roman"/>
                <a:cs typeface="Times New Roman"/>
                <a:sym typeface="Times New Roman"/>
              </a:rPr>
              <a:t>Typical uses of buzzers and beepers include </a:t>
            </a:r>
            <a:r>
              <a:rPr lang="en" sz="1200" u="none">
                <a:solidFill>
                  <a:srgbClr val="202122"/>
                </a:solidFill>
                <a:latin typeface="Times New Roman"/>
                <a:ea typeface="Times New Roman"/>
                <a:cs typeface="Times New Roman"/>
                <a:sym typeface="Times New Roman"/>
              </a:rPr>
              <a:t>alarm devices,</a:t>
            </a:r>
            <a:r>
              <a:rPr lang="en" sz="1200" i="0" u="none" strike="noStrike" cap="none">
                <a:solidFill>
                  <a:srgbClr val="202122"/>
                </a:solidFill>
                <a:latin typeface="Times New Roman"/>
                <a:ea typeface="Times New Roman"/>
                <a:cs typeface="Times New Roman"/>
                <a:sym typeface="Times New Roman"/>
              </a:rPr>
              <a:t> </a:t>
            </a:r>
            <a:r>
              <a:rPr lang="en" sz="1200">
                <a:solidFill>
                  <a:srgbClr val="202122"/>
                </a:solidFill>
                <a:latin typeface="Times New Roman"/>
                <a:ea typeface="Times New Roman"/>
                <a:cs typeface="Times New Roman"/>
                <a:sym typeface="Times New Roman"/>
              </a:rPr>
              <a:t>timers</a:t>
            </a:r>
            <a:r>
              <a:rPr lang="en" sz="1200" i="0" u="none" strike="noStrike" cap="none">
                <a:solidFill>
                  <a:srgbClr val="202122"/>
                </a:solidFill>
                <a:latin typeface="Times New Roman"/>
                <a:ea typeface="Times New Roman"/>
                <a:cs typeface="Times New Roman"/>
                <a:sym typeface="Times New Roman"/>
              </a:rPr>
              <a:t> and confirmation of user input such as a mouse click or keystroke.</a:t>
            </a:r>
            <a:endParaRPr sz="120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6"/>
          <p:cNvSpPr txBox="1">
            <a:spLocks noGrp="1"/>
          </p:cNvSpPr>
          <p:nvPr>
            <p:ph type="title"/>
          </p:nvPr>
        </p:nvSpPr>
        <p:spPr>
          <a:xfrm>
            <a:off x="476818" y="318046"/>
            <a:ext cx="6827700" cy="725400"/>
          </a:xfrm>
          <a:prstGeom prst="rect">
            <a:avLst/>
          </a:prstGeom>
          <a:noFill/>
          <a:ln>
            <a:noFill/>
          </a:ln>
        </p:spPr>
        <p:txBody>
          <a:bodyPr spcFirstLastPara="1" wrap="square" lIns="68575" tIns="34275" rIns="68575" bIns="34275" anchor="b" anchorCtr="0">
            <a:normAutofit/>
          </a:bodyPr>
          <a:lstStyle/>
          <a:p>
            <a:pPr marL="0" lvl="0" indent="0" algn="l" rtl="0">
              <a:lnSpc>
                <a:spcPct val="100000"/>
              </a:lnSpc>
              <a:spcBef>
                <a:spcPts val="0"/>
              </a:spcBef>
              <a:spcAft>
                <a:spcPts val="0"/>
              </a:spcAft>
              <a:buClr>
                <a:schemeClr val="lt1"/>
              </a:buClr>
              <a:buSzPts val="2100"/>
              <a:buFont typeface="Gill Sans"/>
              <a:buNone/>
            </a:pPr>
            <a:r>
              <a:rPr lang="en" sz="2400" b="1">
                <a:latin typeface="Times New Roman"/>
                <a:ea typeface="Times New Roman"/>
                <a:cs typeface="Times New Roman"/>
                <a:sym typeface="Times New Roman"/>
              </a:rPr>
              <a:t>TM1637 DISPLAY</a:t>
            </a:r>
            <a:endParaRPr sz="2400" b="1">
              <a:latin typeface="Times New Roman"/>
              <a:ea typeface="Times New Roman"/>
              <a:cs typeface="Times New Roman"/>
              <a:sym typeface="Times New Roman"/>
            </a:endParaRPr>
          </a:p>
        </p:txBody>
      </p:sp>
      <p:sp>
        <p:nvSpPr>
          <p:cNvPr id="272" name="Google Shape;272;p46"/>
          <p:cNvSpPr/>
          <p:nvPr/>
        </p:nvSpPr>
        <p:spPr>
          <a:xfrm>
            <a:off x="924635" y="2365632"/>
            <a:ext cx="4572000" cy="1315800"/>
          </a:xfrm>
          <a:prstGeom prst="rect">
            <a:avLst/>
          </a:prstGeom>
          <a:noFill/>
          <a:ln>
            <a:noFill/>
          </a:ln>
        </p:spPr>
        <p:txBody>
          <a:bodyPr spcFirstLastPara="1" wrap="square" lIns="68575" tIns="34275" rIns="68575" bIns="34275" anchor="t" anchorCtr="0">
            <a:noAutofit/>
          </a:bodyPr>
          <a:lstStyle/>
          <a:p>
            <a:pPr marL="0" marR="0" lvl="0" indent="0" algn="just" rtl="0">
              <a:lnSpc>
                <a:spcPct val="150000"/>
              </a:lnSpc>
              <a:spcBef>
                <a:spcPts val="0"/>
              </a:spcBef>
              <a:spcAft>
                <a:spcPts val="0"/>
              </a:spcAft>
              <a:buClr>
                <a:srgbClr val="000000"/>
              </a:buClr>
              <a:buSzPts val="1400"/>
              <a:buFont typeface="Arial"/>
              <a:buNone/>
            </a:pPr>
            <a:endParaRPr sz="1200" i="0" u="none" strike="noStrike" cap="none">
              <a:solidFill>
                <a:schemeClr val="dk1"/>
              </a:solidFill>
              <a:latin typeface="Times New Roman"/>
              <a:ea typeface="Times New Roman"/>
              <a:cs typeface="Times New Roman"/>
              <a:sym typeface="Times New Roman"/>
            </a:endParaRPr>
          </a:p>
        </p:txBody>
      </p:sp>
      <p:pic>
        <p:nvPicPr>
          <p:cNvPr id="273" name="Google Shape;273;p46"/>
          <p:cNvPicPr preferRelativeResize="0"/>
          <p:nvPr/>
        </p:nvPicPr>
        <p:blipFill rotWithShape="1">
          <a:blip r:embed="rId3">
            <a:alphaModFix/>
          </a:blip>
          <a:srcRect t="16877" b="16837"/>
          <a:stretch/>
        </p:blipFill>
        <p:spPr>
          <a:xfrm>
            <a:off x="6098350" y="1392195"/>
            <a:ext cx="2941375" cy="2172256"/>
          </a:xfrm>
          <a:prstGeom prst="rect">
            <a:avLst/>
          </a:prstGeom>
          <a:noFill/>
          <a:ln>
            <a:noFill/>
          </a:ln>
        </p:spPr>
      </p:pic>
      <p:sp>
        <p:nvSpPr>
          <p:cNvPr id="274" name="Google Shape;274;p46"/>
          <p:cNvSpPr txBox="1"/>
          <p:nvPr/>
        </p:nvSpPr>
        <p:spPr>
          <a:xfrm>
            <a:off x="219975" y="1214200"/>
            <a:ext cx="5794500" cy="3140100"/>
          </a:xfrm>
          <a:prstGeom prst="rect">
            <a:avLst/>
          </a:prstGeom>
          <a:noFill/>
          <a:ln>
            <a:noFill/>
          </a:ln>
        </p:spPr>
        <p:txBody>
          <a:bodyPr spcFirstLastPara="1" wrap="square" lIns="91425" tIns="91425" rIns="91425" bIns="91425" anchor="t" anchorCtr="0">
            <a:spAutoFit/>
          </a:bodyPr>
          <a:lstStyle/>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TM1637 is a kind of LED (light-emitting diode display) drive control special circuit with keyboard scan interface and it's internally integrated with MCU digital interface, data latch, LED high pressure drive and keyboard scan.</a:t>
            </a:r>
            <a:endParaRPr sz="1200">
              <a:solidFill>
                <a:schemeClr val="dk1"/>
              </a:solidFill>
              <a:latin typeface="Times New Roman"/>
              <a:ea typeface="Times New Roman"/>
              <a:cs typeface="Times New Roman"/>
              <a:sym typeface="Times New Roman"/>
            </a:endParaRPr>
          </a:p>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TM1637 4 Bits Digital Tube LED Display Module is an affordable solution for displaying the output data of your </a:t>
            </a:r>
            <a:r>
              <a:rPr lang="en" sz="1200">
                <a:solidFill>
                  <a:schemeClr val="dk1"/>
                </a:solidFill>
                <a:uFill>
                  <a:noFill/>
                </a:u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Arduino</a:t>
            </a:r>
            <a:r>
              <a:rPr lang="en" sz="1200">
                <a:solidFill>
                  <a:schemeClr val="dk1"/>
                </a:solidFill>
                <a:latin typeface="Times New Roman"/>
                <a:ea typeface="Times New Roman"/>
                <a:cs typeface="Times New Roman"/>
                <a:sym typeface="Times New Roman"/>
              </a:rPr>
              <a:t> project. </a:t>
            </a:r>
            <a:endParaRPr sz="1200">
              <a:solidFill>
                <a:schemeClr val="dk1"/>
              </a:solidFill>
              <a:latin typeface="Times New Roman"/>
              <a:ea typeface="Times New Roman"/>
              <a:cs typeface="Times New Roman"/>
              <a:sym typeface="Times New Roman"/>
            </a:endParaRPr>
          </a:p>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Though the data displayed is restricted by numbers still it allows users to display some characters too like A, B, C etc.</a:t>
            </a:r>
            <a:endParaRPr sz="1200">
              <a:solidFill>
                <a:schemeClr val="dk1"/>
              </a:solidFill>
              <a:latin typeface="Times New Roman"/>
              <a:ea typeface="Times New Roman"/>
              <a:cs typeface="Times New Roman"/>
              <a:sym typeface="Times New Roman"/>
            </a:endParaRPr>
          </a:p>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This 7 segment </a:t>
            </a:r>
            <a:r>
              <a:rPr lang="en" sz="1200">
                <a:solidFill>
                  <a:schemeClr val="dk1"/>
                </a:solidFill>
                <a:uFill>
                  <a:noFill/>
                </a:u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LED </a:t>
            </a:r>
            <a:r>
              <a:rPr lang="en" sz="1200">
                <a:solidFill>
                  <a:schemeClr val="dk1"/>
                </a:solidFill>
                <a:latin typeface="Times New Roman"/>
                <a:ea typeface="Times New Roman"/>
                <a:cs typeface="Times New Roman"/>
                <a:sym typeface="Times New Roman"/>
              </a:rPr>
              <a:t>Display has 4 digits which are controlled by TM1637 Driver Chip. </a:t>
            </a:r>
            <a:endParaRPr sz="1200">
              <a:solidFill>
                <a:schemeClr val="dk1"/>
              </a:solidFill>
              <a:latin typeface="Times New Roman"/>
              <a:ea typeface="Times New Roman"/>
              <a:cs typeface="Times New Roman"/>
              <a:sym typeface="Times New Roman"/>
            </a:endParaRPr>
          </a:p>
          <a:p>
            <a:pPr marL="457200" lvl="0" indent="-304800" algn="just" rtl="0">
              <a:lnSpc>
                <a:spcPct val="150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It requires only two connections to control this TM1637 4 Bits Digital Tube LED Display Module. </a:t>
            </a:r>
            <a:endParaRPr sz="1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8"/>
          <p:cNvSpPr txBox="1">
            <a:spLocks noGrp="1"/>
          </p:cNvSpPr>
          <p:nvPr>
            <p:ph type="title"/>
          </p:nvPr>
        </p:nvSpPr>
        <p:spPr>
          <a:xfrm>
            <a:off x="476818" y="318046"/>
            <a:ext cx="6827700" cy="725400"/>
          </a:xfrm>
          <a:prstGeom prst="rect">
            <a:avLst/>
          </a:prstGeom>
          <a:noFill/>
          <a:ln>
            <a:noFill/>
          </a:ln>
        </p:spPr>
        <p:txBody>
          <a:bodyPr spcFirstLastPara="1" wrap="square" lIns="68575" tIns="34275" rIns="68575" bIns="34275" anchor="b" anchorCtr="0">
            <a:normAutofit/>
          </a:bodyPr>
          <a:lstStyle/>
          <a:p>
            <a:pPr marL="0" lvl="0" indent="0" algn="l" rtl="0">
              <a:lnSpc>
                <a:spcPct val="100000"/>
              </a:lnSpc>
              <a:spcBef>
                <a:spcPts val="0"/>
              </a:spcBef>
              <a:spcAft>
                <a:spcPts val="0"/>
              </a:spcAft>
              <a:buClr>
                <a:schemeClr val="lt1"/>
              </a:buClr>
              <a:buSzPts val="2100"/>
              <a:buFont typeface="Gill Sans"/>
              <a:buNone/>
            </a:pPr>
            <a:r>
              <a:rPr lang="en" sz="2400" b="1">
                <a:latin typeface="Times New Roman"/>
                <a:ea typeface="Times New Roman"/>
                <a:cs typeface="Times New Roman"/>
                <a:sym typeface="Times New Roman"/>
              </a:rPr>
              <a:t>PROTEUS SIMULATION DESIGN SOFTWARE</a:t>
            </a:r>
            <a:endParaRPr sz="2400" b="1">
              <a:latin typeface="Times New Roman"/>
              <a:ea typeface="Times New Roman"/>
              <a:cs typeface="Times New Roman"/>
              <a:sym typeface="Times New Roman"/>
            </a:endParaRPr>
          </a:p>
        </p:txBody>
      </p:sp>
      <p:pic>
        <p:nvPicPr>
          <p:cNvPr id="287" name="Google Shape;287;p48" descr="Introduction to Proteus - The Engineering Knowledge"/>
          <p:cNvPicPr preferRelativeResize="0"/>
          <p:nvPr/>
        </p:nvPicPr>
        <p:blipFill rotWithShape="1">
          <a:blip r:embed="rId3">
            <a:alphaModFix/>
          </a:blip>
          <a:srcRect/>
          <a:stretch/>
        </p:blipFill>
        <p:spPr>
          <a:xfrm>
            <a:off x="5235923" y="1473150"/>
            <a:ext cx="3472141" cy="3214180"/>
          </a:xfrm>
          <a:prstGeom prst="rect">
            <a:avLst/>
          </a:prstGeom>
          <a:noFill/>
          <a:ln>
            <a:noFill/>
          </a:ln>
        </p:spPr>
      </p:pic>
      <p:sp>
        <p:nvSpPr>
          <p:cNvPr id="288" name="Google Shape;288;p48"/>
          <p:cNvSpPr/>
          <p:nvPr/>
        </p:nvSpPr>
        <p:spPr>
          <a:xfrm>
            <a:off x="336263" y="1473150"/>
            <a:ext cx="4605900" cy="3389100"/>
          </a:xfrm>
          <a:prstGeom prst="round2DiagRect">
            <a:avLst>
              <a:gd name="adj1" fmla="val 16667"/>
              <a:gd name="adj2" fmla="val 0"/>
            </a:avLst>
          </a:prstGeom>
          <a:noFill/>
          <a:ln w="14300" cap="flat" cmpd="sng">
            <a:solidFill>
              <a:srgbClr val="000000"/>
            </a:solidFill>
            <a:prstDash val="solid"/>
            <a:round/>
            <a:headEnd type="none" w="sm" len="sm"/>
            <a:tailEnd type="none" w="sm" len="sm"/>
          </a:ln>
        </p:spPr>
        <p:txBody>
          <a:bodyPr spcFirstLastPara="1" wrap="square" lIns="68575" tIns="68575" rIns="68575" bIns="68575" anchor="ctr" anchorCtr="0">
            <a:noAutofit/>
          </a:bodyPr>
          <a:lstStyle/>
          <a:p>
            <a:pPr marL="228600" lvl="0" indent="-228600" algn="just" rtl="0">
              <a:lnSpc>
                <a:spcPct val="150000"/>
              </a:lnSpc>
              <a:spcBef>
                <a:spcPts val="0"/>
              </a:spcBef>
              <a:spcAft>
                <a:spcPts val="0"/>
              </a:spcAft>
              <a:buClr>
                <a:srgbClr val="000000"/>
              </a:buClr>
              <a:buSzPts val="1200"/>
              <a:buFont typeface="Open Sans"/>
              <a:buChar char="◼"/>
            </a:pPr>
            <a:r>
              <a:rPr lang="en" sz="1200">
                <a:latin typeface="Times New Roman"/>
                <a:ea typeface="Times New Roman"/>
                <a:cs typeface="Times New Roman"/>
                <a:sym typeface="Times New Roman"/>
              </a:rPr>
              <a:t>The Proteus Design Suite is a proprietary software tool suite used primarily for electronic design automation. The software is used mainly by electronic design engineers and technicians to create schematics and electronic prints for manufacturing printed circuit boards.</a:t>
            </a:r>
            <a:endParaRPr sz="1200">
              <a:latin typeface="Times New Roman"/>
              <a:ea typeface="Times New Roman"/>
              <a:cs typeface="Times New Roman"/>
              <a:sym typeface="Times New Roman"/>
            </a:endParaRPr>
          </a:p>
          <a:p>
            <a:pPr marL="228600" lvl="0" indent="-228600" algn="just" rtl="0">
              <a:lnSpc>
                <a:spcPct val="150000"/>
              </a:lnSpc>
              <a:spcBef>
                <a:spcPts val="700"/>
              </a:spcBef>
              <a:spcAft>
                <a:spcPts val="0"/>
              </a:spcAft>
              <a:buClr>
                <a:srgbClr val="000000"/>
              </a:buClr>
              <a:buSzPts val="1200"/>
              <a:buFont typeface="Open Sans"/>
              <a:buChar char="◼"/>
            </a:pPr>
            <a:r>
              <a:rPr lang="en" sz="1200">
                <a:latin typeface="Times New Roman"/>
                <a:ea typeface="Times New Roman"/>
                <a:cs typeface="Times New Roman"/>
                <a:sym typeface="Times New Roman"/>
              </a:rPr>
              <a:t>What is Proteus? Proteus is a work management automation platform designed from the ground-up by diversified energy industry professionals to help the industry digitally transform and transition to a low carbon future. It brings together talent acquisition, project management and finance into one cloud-based hub.</a:t>
            </a:r>
            <a:endParaRPr sz="12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9"/>
          <p:cNvSpPr txBox="1">
            <a:spLocks noGrp="1"/>
          </p:cNvSpPr>
          <p:nvPr>
            <p:ph type="title"/>
          </p:nvPr>
        </p:nvSpPr>
        <p:spPr>
          <a:xfrm>
            <a:off x="483343" y="55246"/>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3600"/>
              <a:buNone/>
            </a:pPr>
            <a:r>
              <a:rPr lang="en" sz="2400" b="1">
                <a:latin typeface="Times New Roman"/>
                <a:ea typeface="Times New Roman"/>
                <a:cs typeface="Times New Roman"/>
                <a:sym typeface="Times New Roman"/>
              </a:rPr>
              <a:t>ADVANTAGES</a:t>
            </a:r>
            <a:endParaRPr sz="2400" b="1">
              <a:latin typeface="Times New Roman"/>
              <a:ea typeface="Times New Roman"/>
              <a:cs typeface="Times New Roman"/>
              <a:sym typeface="Times New Roman"/>
            </a:endParaRPr>
          </a:p>
        </p:txBody>
      </p:sp>
      <p:sp>
        <p:nvSpPr>
          <p:cNvPr id="295" name="Google Shape;295;p49"/>
          <p:cNvSpPr txBox="1">
            <a:spLocks noGrp="1"/>
          </p:cNvSpPr>
          <p:nvPr>
            <p:ph type="body" idx="1"/>
          </p:nvPr>
        </p:nvSpPr>
        <p:spPr>
          <a:xfrm>
            <a:off x="345989" y="780645"/>
            <a:ext cx="7628238" cy="4153819"/>
          </a:xfrm>
          <a:prstGeom prst="rect">
            <a:avLst/>
          </a:prstGeom>
          <a:noFill/>
          <a:ln>
            <a:noFill/>
          </a:ln>
        </p:spPr>
        <p:txBody>
          <a:bodyPr spcFirstLastPara="1" wrap="square" lIns="91425" tIns="45700" rIns="91425" bIns="45700" anchor="t" anchorCtr="0">
            <a:noAutofit/>
          </a:bodyPr>
          <a:lstStyle/>
          <a:p>
            <a:pPr marL="457200" lvl="0" indent="-304800" algn="l" rtl="0">
              <a:lnSpc>
                <a:spcPct val="150000"/>
              </a:lnSpc>
              <a:spcBef>
                <a:spcPts val="1000"/>
              </a:spcBef>
              <a:spcAft>
                <a:spcPts val="0"/>
              </a:spcAft>
              <a:buSzPts val="1200"/>
              <a:buFont typeface="Times New Roman"/>
              <a:buAutoNum type="arabicPeriod"/>
            </a:pPr>
            <a:r>
              <a:rPr lang="en" sz="1200" b="1" dirty="0">
                <a:latin typeface="Times New Roman"/>
                <a:ea typeface="Times New Roman"/>
                <a:cs typeface="Times New Roman"/>
                <a:sym typeface="Times New Roman"/>
              </a:rPr>
              <a:t>Real-Time Monitoring:</a:t>
            </a:r>
            <a:r>
              <a:rPr lang="en" sz="1200" dirty="0">
                <a:latin typeface="Times New Roman"/>
                <a:ea typeface="Times New Roman"/>
                <a:cs typeface="Times New Roman"/>
                <a:sym typeface="Times New Roman"/>
              </a:rPr>
              <a:t> Continuously tracks environmental parameters, enabling immediate detection of unsafe conditions.</a:t>
            </a:r>
            <a:br>
              <a:rPr lang="en" sz="1200" dirty="0">
                <a:latin typeface="Times New Roman"/>
                <a:ea typeface="Times New Roman"/>
                <a:cs typeface="Times New Roman"/>
                <a:sym typeface="Times New Roman"/>
              </a:rPr>
            </a:br>
            <a:endParaRPr sz="1200" dirty="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AutoNum type="arabicPeriod"/>
            </a:pPr>
            <a:r>
              <a:rPr lang="en" sz="1200" b="1" dirty="0">
                <a:latin typeface="Times New Roman"/>
                <a:ea typeface="Times New Roman"/>
                <a:cs typeface="Times New Roman"/>
                <a:sym typeface="Times New Roman"/>
              </a:rPr>
              <a:t>Early Alert System:</a:t>
            </a:r>
            <a:r>
              <a:rPr lang="en" sz="1200" dirty="0">
                <a:latin typeface="Times New Roman"/>
                <a:ea typeface="Times New Roman"/>
                <a:cs typeface="Times New Roman"/>
                <a:sym typeface="Times New Roman"/>
              </a:rPr>
              <a:t> Threshold-based buzzer alerts help prevent exposure to harmful gases and poor air quality.</a:t>
            </a:r>
            <a:br>
              <a:rPr lang="en" sz="1200" dirty="0">
                <a:latin typeface="Times New Roman"/>
                <a:ea typeface="Times New Roman"/>
                <a:cs typeface="Times New Roman"/>
                <a:sym typeface="Times New Roman"/>
              </a:rPr>
            </a:br>
            <a:endParaRPr sz="1200" dirty="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AutoNum type="arabicPeriod"/>
            </a:pPr>
            <a:r>
              <a:rPr lang="en" sz="1200" b="1" dirty="0">
                <a:latin typeface="Times New Roman"/>
                <a:ea typeface="Times New Roman"/>
                <a:cs typeface="Times New Roman"/>
                <a:sym typeface="Times New Roman"/>
              </a:rPr>
              <a:t>Cost-Effective:</a:t>
            </a:r>
            <a:r>
              <a:rPr lang="en" sz="1200" dirty="0">
                <a:latin typeface="Times New Roman"/>
                <a:ea typeface="Times New Roman"/>
                <a:cs typeface="Times New Roman"/>
                <a:sym typeface="Times New Roman"/>
              </a:rPr>
              <a:t> Built using affordable components like ESP32, MQ sensors, and DHT11.</a:t>
            </a:r>
            <a:br>
              <a:rPr lang="en" sz="1200" dirty="0">
                <a:latin typeface="Times New Roman"/>
                <a:ea typeface="Times New Roman"/>
                <a:cs typeface="Times New Roman"/>
                <a:sym typeface="Times New Roman"/>
              </a:rPr>
            </a:br>
            <a:endParaRPr sz="1200" dirty="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AutoNum type="arabicPeriod"/>
            </a:pPr>
            <a:r>
              <a:rPr lang="en" sz="1200" b="1" dirty="0">
                <a:latin typeface="Times New Roman"/>
                <a:ea typeface="Times New Roman"/>
                <a:cs typeface="Times New Roman"/>
                <a:sym typeface="Times New Roman"/>
              </a:rPr>
              <a:t>Portable and Easy to Deploy:</a:t>
            </a:r>
            <a:r>
              <a:rPr lang="en" sz="1200" dirty="0">
                <a:latin typeface="Times New Roman"/>
                <a:ea typeface="Times New Roman"/>
                <a:cs typeface="Times New Roman"/>
                <a:sym typeface="Times New Roman"/>
              </a:rPr>
              <a:t> Battery-operated and compact design allows installation in multiple locations.</a:t>
            </a:r>
            <a:br>
              <a:rPr lang="en" sz="1200" dirty="0">
                <a:latin typeface="Times New Roman"/>
                <a:ea typeface="Times New Roman"/>
                <a:cs typeface="Times New Roman"/>
                <a:sym typeface="Times New Roman"/>
              </a:rPr>
            </a:br>
            <a:endParaRPr sz="1200" dirty="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AutoNum type="arabicPeriod"/>
            </a:pPr>
            <a:r>
              <a:rPr lang="en" sz="1200" b="1" dirty="0">
                <a:latin typeface="Times New Roman"/>
                <a:ea typeface="Times New Roman"/>
                <a:cs typeface="Times New Roman"/>
                <a:sym typeface="Times New Roman"/>
              </a:rPr>
              <a:t>Low Maintenance:</a:t>
            </a:r>
            <a:r>
              <a:rPr lang="en" sz="1200" dirty="0">
                <a:latin typeface="Times New Roman"/>
                <a:ea typeface="Times New Roman"/>
                <a:cs typeface="Times New Roman"/>
                <a:sym typeface="Times New Roman"/>
              </a:rPr>
              <a:t> Simple embedded system design with minimal upkeep requirements.</a:t>
            </a:r>
            <a:br>
              <a:rPr lang="en" sz="1200" dirty="0">
                <a:latin typeface="Times New Roman"/>
                <a:ea typeface="Times New Roman"/>
                <a:cs typeface="Times New Roman"/>
                <a:sym typeface="Times New Roman"/>
              </a:rPr>
            </a:br>
            <a:endParaRPr sz="1200" dirty="0">
              <a:latin typeface="Times New Roman"/>
              <a:ea typeface="Times New Roman"/>
              <a:cs typeface="Times New Roman"/>
              <a:sym typeface="Times New Roman"/>
            </a:endParaRPr>
          </a:p>
          <a:p>
            <a:pPr marL="457200" lvl="0" indent="-304800" algn="l" rtl="0">
              <a:lnSpc>
                <a:spcPct val="150000"/>
              </a:lnSpc>
              <a:spcBef>
                <a:spcPts val="0"/>
              </a:spcBef>
              <a:spcAft>
                <a:spcPts val="0"/>
              </a:spcAft>
              <a:buSzPts val="1200"/>
              <a:buFont typeface="Times New Roman"/>
              <a:buAutoNum type="arabicPeriod"/>
            </a:pPr>
            <a:r>
              <a:rPr lang="en" sz="1200" b="1" dirty="0">
                <a:latin typeface="Times New Roman"/>
                <a:ea typeface="Times New Roman"/>
                <a:cs typeface="Times New Roman"/>
                <a:sym typeface="Times New Roman"/>
              </a:rPr>
              <a:t>Multi-Parameter Monitoring:</a:t>
            </a:r>
            <a:r>
              <a:rPr lang="en" sz="1200" dirty="0">
                <a:latin typeface="Times New Roman"/>
                <a:ea typeface="Times New Roman"/>
                <a:cs typeface="Times New Roman"/>
                <a:sym typeface="Times New Roman"/>
              </a:rPr>
              <a:t> Monitors CO₂, dust particles, temperature, and humidity simultaneously, providing a comprehensive environmental overview.</a:t>
            </a:r>
            <a:br>
              <a:rPr lang="en" sz="1200" dirty="0">
                <a:latin typeface="Times New Roman"/>
                <a:ea typeface="Times New Roman"/>
                <a:cs typeface="Times New Roman"/>
                <a:sym typeface="Times New Roman"/>
              </a:rPr>
            </a:br>
            <a:endParaRPr sz="1200" dirty="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50"/>
          <p:cNvSpPr txBox="1">
            <a:spLocks noGrp="1"/>
          </p:cNvSpPr>
          <p:nvPr>
            <p:ph type="title"/>
          </p:nvPr>
        </p:nvSpPr>
        <p:spPr>
          <a:xfrm>
            <a:off x="494743" y="130321"/>
            <a:ext cx="6827700" cy="7254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 sz="2400" b="1">
                <a:latin typeface="Times New Roman"/>
                <a:ea typeface="Times New Roman"/>
                <a:cs typeface="Times New Roman"/>
                <a:sym typeface="Times New Roman"/>
              </a:rPr>
              <a:t>APPLICATIONS</a:t>
            </a:r>
            <a:endParaRPr sz="2400" b="1">
              <a:latin typeface="Times New Roman"/>
              <a:ea typeface="Times New Roman"/>
              <a:cs typeface="Times New Roman"/>
              <a:sym typeface="Times New Roman"/>
            </a:endParaRPr>
          </a:p>
        </p:txBody>
      </p:sp>
      <p:sp>
        <p:nvSpPr>
          <p:cNvPr id="302" name="Google Shape;302;p50"/>
          <p:cNvSpPr txBox="1">
            <a:spLocks noGrp="1"/>
          </p:cNvSpPr>
          <p:nvPr>
            <p:ph type="body" idx="1"/>
          </p:nvPr>
        </p:nvSpPr>
        <p:spPr>
          <a:xfrm>
            <a:off x="74141" y="972065"/>
            <a:ext cx="7891847" cy="3805285"/>
          </a:xfrm>
          <a:prstGeom prst="rect">
            <a:avLst/>
          </a:prstGeom>
        </p:spPr>
        <p:txBody>
          <a:bodyPr spcFirstLastPara="1" wrap="square" lIns="91425" tIns="45700" rIns="91425" bIns="45700" anchor="t" anchorCtr="0">
            <a:noAutofit/>
          </a:bodyPr>
          <a:lstStyle/>
          <a:p>
            <a:pPr marL="457200" lvl="0" indent="-304800" algn="just" rtl="0">
              <a:lnSpc>
                <a:spcPct val="150000"/>
              </a:lnSpc>
              <a:spcBef>
                <a:spcPts val="0"/>
              </a:spcBef>
              <a:spcAft>
                <a:spcPts val="0"/>
              </a:spcAft>
              <a:buSzPts val="1200"/>
              <a:buFont typeface="Times New Roman"/>
              <a:buChar char="●"/>
            </a:pPr>
            <a:r>
              <a:rPr lang="en" sz="1200" b="1" dirty="0">
                <a:latin typeface="Times New Roman"/>
                <a:ea typeface="Times New Roman"/>
                <a:cs typeface="Times New Roman"/>
                <a:sym typeface="Times New Roman"/>
              </a:rPr>
              <a:t>Indoor Air Quality Monitoring:</a:t>
            </a:r>
            <a:r>
              <a:rPr lang="en" sz="1200" dirty="0">
                <a:latin typeface="Times New Roman"/>
                <a:ea typeface="Times New Roman"/>
                <a:cs typeface="Times New Roman"/>
                <a:sym typeface="Times New Roman"/>
              </a:rPr>
              <a:t> Homes, offices, classrooms, and laboratories to ensure healthy indoor conditions.</a:t>
            </a:r>
            <a:br>
              <a:rPr lang="en" sz="1200" dirty="0">
                <a:latin typeface="Times New Roman"/>
                <a:ea typeface="Times New Roman"/>
                <a:cs typeface="Times New Roman"/>
                <a:sym typeface="Times New Roman"/>
              </a:rPr>
            </a:b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b="1" dirty="0">
                <a:latin typeface="Times New Roman"/>
                <a:ea typeface="Times New Roman"/>
                <a:cs typeface="Times New Roman"/>
                <a:sym typeface="Times New Roman"/>
              </a:rPr>
              <a:t>Industrial Environments:</a:t>
            </a:r>
            <a:r>
              <a:rPr lang="en" sz="1200" dirty="0">
                <a:latin typeface="Times New Roman"/>
                <a:ea typeface="Times New Roman"/>
                <a:cs typeface="Times New Roman"/>
                <a:sym typeface="Times New Roman"/>
              </a:rPr>
              <a:t> Factories and workshops to detect gas leaks, dust, and unsafe temperature/humidity levels.</a:t>
            </a:r>
            <a:br>
              <a:rPr lang="en" sz="1200" dirty="0">
                <a:latin typeface="Times New Roman"/>
                <a:ea typeface="Times New Roman"/>
                <a:cs typeface="Times New Roman"/>
                <a:sym typeface="Times New Roman"/>
              </a:rPr>
            </a:b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b="1" dirty="0">
                <a:latin typeface="Times New Roman"/>
                <a:ea typeface="Times New Roman"/>
                <a:cs typeface="Times New Roman"/>
                <a:sym typeface="Times New Roman"/>
              </a:rPr>
              <a:t>Environmental Research:</a:t>
            </a:r>
            <a:r>
              <a:rPr lang="en" sz="1200" dirty="0">
                <a:latin typeface="Times New Roman"/>
                <a:ea typeface="Times New Roman"/>
                <a:cs typeface="Times New Roman"/>
                <a:sym typeface="Times New Roman"/>
              </a:rPr>
              <a:t> Collects data for studies on air pollution, climate, and environmental safety.</a:t>
            </a:r>
            <a:br>
              <a:rPr lang="en" sz="1200" dirty="0">
                <a:latin typeface="Times New Roman"/>
                <a:ea typeface="Times New Roman"/>
                <a:cs typeface="Times New Roman"/>
                <a:sym typeface="Times New Roman"/>
              </a:rPr>
            </a:b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b="1" dirty="0">
                <a:latin typeface="Times New Roman"/>
                <a:ea typeface="Times New Roman"/>
                <a:cs typeface="Times New Roman"/>
                <a:sym typeface="Times New Roman"/>
              </a:rPr>
              <a:t>Smart Buildings:</a:t>
            </a:r>
            <a:r>
              <a:rPr lang="en" sz="1200" dirty="0">
                <a:latin typeface="Times New Roman"/>
                <a:ea typeface="Times New Roman"/>
                <a:cs typeface="Times New Roman"/>
                <a:sym typeface="Times New Roman"/>
              </a:rPr>
              <a:t> Integrates with embedded systems to automate ventilation or alert systems based on air quality.</a:t>
            </a:r>
            <a:br>
              <a:rPr lang="en" sz="1200" dirty="0">
                <a:latin typeface="Times New Roman"/>
                <a:ea typeface="Times New Roman"/>
                <a:cs typeface="Times New Roman"/>
                <a:sym typeface="Times New Roman"/>
              </a:rPr>
            </a:b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b="1" dirty="0">
                <a:latin typeface="Times New Roman"/>
                <a:ea typeface="Times New Roman"/>
                <a:cs typeface="Times New Roman"/>
                <a:sym typeface="Times New Roman"/>
              </a:rPr>
              <a:t>Healthcare Facilities:</a:t>
            </a:r>
            <a:r>
              <a:rPr lang="en" sz="1200" dirty="0">
                <a:latin typeface="Times New Roman"/>
                <a:ea typeface="Times New Roman"/>
                <a:cs typeface="Times New Roman"/>
                <a:sym typeface="Times New Roman"/>
              </a:rPr>
              <a:t> Monitors critical environmental parameters to maintain safe conditions for patients.</a:t>
            </a:r>
            <a:br>
              <a:rPr lang="en" sz="1200" dirty="0">
                <a:latin typeface="Times New Roman"/>
                <a:ea typeface="Times New Roman"/>
                <a:cs typeface="Times New Roman"/>
                <a:sym typeface="Times New Roman"/>
              </a:rPr>
            </a:b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b="1" dirty="0">
                <a:latin typeface="Times New Roman"/>
                <a:ea typeface="Times New Roman"/>
                <a:cs typeface="Times New Roman"/>
                <a:sym typeface="Times New Roman"/>
              </a:rPr>
              <a:t>Public Spaces:</a:t>
            </a:r>
            <a:r>
              <a:rPr lang="en" sz="1200" dirty="0">
                <a:latin typeface="Times New Roman"/>
                <a:ea typeface="Times New Roman"/>
                <a:cs typeface="Times New Roman"/>
                <a:sym typeface="Times New Roman"/>
              </a:rPr>
              <a:t> Airports, malls, and metro stations for monitoring indoor air quality and improving public safety</a:t>
            </a:r>
            <a:endParaRPr sz="1200" dirty="0">
              <a:latin typeface="Times New Roman"/>
              <a:ea typeface="Times New Roman"/>
              <a:cs typeface="Times New Roman"/>
              <a:sym typeface="Times New Roman"/>
            </a:endParaRPr>
          </a:p>
          <a:p>
            <a:pPr marL="0" lvl="0" indent="0" algn="just" rtl="0">
              <a:lnSpc>
                <a:spcPct val="150000"/>
              </a:lnSpc>
              <a:spcBef>
                <a:spcPts val="560"/>
              </a:spcBef>
              <a:spcAft>
                <a:spcPts val="0"/>
              </a:spcAft>
              <a:buNone/>
            </a:pPr>
            <a:endParaRPr sz="1200" dirty="0">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1"/>
          <p:cNvSpPr txBox="1">
            <a:spLocks noGrp="1"/>
          </p:cNvSpPr>
          <p:nvPr>
            <p:ph type="title"/>
          </p:nvPr>
        </p:nvSpPr>
        <p:spPr>
          <a:xfrm>
            <a:off x="152393" y="32721"/>
            <a:ext cx="6827700" cy="7254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 sz="2400" b="1">
                <a:latin typeface="Times New Roman"/>
                <a:ea typeface="Times New Roman"/>
                <a:cs typeface="Times New Roman"/>
                <a:sym typeface="Times New Roman"/>
              </a:rPr>
              <a:t>EXPERIMENTAL SETUP </a:t>
            </a:r>
            <a:endParaRPr sz="2400" b="1">
              <a:latin typeface="Times New Roman"/>
              <a:ea typeface="Times New Roman"/>
              <a:cs typeface="Times New Roman"/>
              <a:sym typeface="Times New Roman"/>
            </a:endParaRPr>
          </a:p>
        </p:txBody>
      </p:sp>
      <p:sp>
        <p:nvSpPr>
          <p:cNvPr id="309" name="Google Shape;309;p51"/>
          <p:cNvSpPr txBox="1"/>
          <p:nvPr/>
        </p:nvSpPr>
        <p:spPr>
          <a:xfrm>
            <a:off x="1892250" y="4675725"/>
            <a:ext cx="5359500" cy="4002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pPr>
            <a:r>
              <a:rPr lang="en" b="1">
                <a:solidFill>
                  <a:schemeClr val="dk1"/>
                </a:solidFill>
                <a:latin typeface="Times New Roman"/>
                <a:ea typeface="Times New Roman"/>
                <a:cs typeface="Times New Roman"/>
                <a:sym typeface="Times New Roman"/>
              </a:rPr>
              <a:t>Fig. 3  shows the Top View of the project </a:t>
            </a:r>
            <a:endParaRPr b="1">
              <a:solidFill>
                <a:schemeClr val="dk1"/>
              </a:solidFill>
              <a:latin typeface="Times New Roman"/>
              <a:ea typeface="Times New Roman"/>
              <a:cs typeface="Times New Roman"/>
              <a:sym typeface="Times New Roman"/>
            </a:endParaRPr>
          </a:p>
        </p:txBody>
      </p:sp>
      <p:sp>
        <p:nvSpPr>
          <p:cNvPr id="2" name="AutoShape 2">
            <a:extLst>
              <a:ext uri="{FF2B5EF4-FFF2-40B4-BE49-F238E27FC236}">
                <a16:creationId xmlns:a16="http://schemas.microsoft.com/office/drawing/2014/main" id="{FDB2B520-B2C3-9B60-2A5E-4988A9873622}"/>
              </a:ext>
            </a:extLst>
          </p:cNvPr>
          <p:cNvSpPr>
            <a:spLocks noChangeAspect="1" noChangeArrowheads="1"/>
          </p:cNvSpPr>
          <p:nvPr/>
        </p:nvSpPr>
        <p:spPr bwMode="auto">
          <a:xfrm>
            <a:off x="4419599" y="2419350"/>
            <a:ext cx="391297"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02194557-FD2B-F570-AE01-6E2477AD3DD0}"/>
              </a:ext>
            </a:extLst>
          </p:cNvPr>
          <p:cNvPicPr>
            <a:picLocks noChangeAspect="1"/>
          </p:cNvPicPr>
          <p:nvPr/>
        </p:nvPicPr>
        <p:blipFill>
          <a:blip r:embed="rId3"/>
          <a:stretch>
            <a:fillRect/>
          </a:stretch>
        </p:blipFill>
        <p:spPr>
          <a:xfrm>
            <a:off x="2001795" y="873210"/>
            <a:ext cx="4769708" cy="368231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2"/>
          <p:cNvSpPr txBox="1"/>
          <p:nvPr/>
        </p:nvSpPr>
        <p:spPr>
          <a:xfrm>
            <a:off x="1461550" y="4356050"/>
            <a:ext cx="6482700" cy="4848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en" b="1">
                <a:solidFill>
                  <a:schemeClr val="dk1"/>
                </a:solidFill>
                <a:latin typeface="Times New Roman"/>
                <a:ea typeface="Times New Roman"/>
                <a:cs typeface="Times New Roman"/>
                <a:sym typeface="Times New Roman"/>
              </a:rPr>
              <a:t>Fig. 4 Shows  the experimental setup of the proposed system </a:t>
            </a:r>
            <a:endParaRPr b="1">
              <a:solidFill>
                <a:schemeClr val="dk1"/>
              </a:solidFill>
              <a:latin typeface="Times New Roman"/>
              <a:ea typeface="Times New Roman"/>
              <a:cs typeface="Times New Roman"/>
              <a:sym typeface="Times New Roman"/>
            </a:endParaRPr>
          </a:p>
          <a:p>
            <a:pPr marL="0" lvl="0" indent="0" algn="ctr" rtl="0">
              <a:lnSpc>
                <a:spcPct val="150000"/>
              </a:lnSpc>
              <a:spcBef>
                <a:spcPts val="1900"/>
              </a:spcBef>
              <a:spcAft>
                <a:spcPts val="1900"/>
              </a:spcAft>
              <a:buNone/>
            </a:pPr>
            <a:endParaRPr b="1">
              <a:solidFill>
                <a:schemeClr val="dk1"/>
              </a:solidFill>
              <a:latin typeface="Times New Roman"/>
              <a:ea typeface="Times New Roman"/>
              <a:cs typeface="Times New Roman"/>
              <a:sym typeface="Times New Roman"/>
            </a:endParaRPr>
          </a:p>
        </p:txBody>
      </p:sp>
      <p:pic>
        <p:nvPicPr>
          <p:cNvPr id="317" name="Google Shape;317;p52"/>
          <p:cNvPicPr preferRelativeResize="0"/>
          <p:nvPr/>
        </p:nvPicPr>
        <p:blipFill>
          <a:blip r:embed="rId3">
            <a:alphaModFix/>
          </a:blip>
          <a:stretch>
            <a:fillRect/>
          </a:stretch>
        </p:blipFill>
        <p:spPr>
          <a:xfrm>
            <a:off x="2248638" y="550375"/>
            <a:ext cx="4646725" cy="3485050"/>
          </a:xfrm>
          <a:prstGeom prst="rect">
            <a:avLst/>
          </a:prstGeom>
          <a:noFill/>
          <a:ln w="12700" cap="flat" cmpd="sng">
            <a:solidFill>
              <a:srgbClr val="000000"/>
            </a:solidFill>
            <a:prstDash val="solid"/>
            <a:miter lim="8000"/>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3"/>
          <p:cNvSpPr txBox="1">
            <a:spLocks noGrp="1"/>
          </p:cNvSpPr>
          <p:nvPr>
            <p:ph type="title"/>
          </p:nvPr>
        </p:nvSpPr>
        <p:spPr>
          <a:xfrm>
            <a:off x="566018" y="99221"/>
            <a:ext cx="6827700" cy="7254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 sz="2400" b="1" dirty="0">
                <a:latin typeface="Times New Roman"/>
                <a:ea typeface="Times New Roman"/>
                <a:cs typeface="Times New Roman"/>
                <a:sym typeface="Times New Roman"/>
              </a:rPr>
              <a:t>RESULTS</a:t>
            </a:r>
            <a:endParaRPr sz="2400" b="1" dirty="0">
              <a:latin typeface="Times New Roman"/>
              <a:ea typeface="Times New Roman"/>
              <a:cs typeface="Times New Roman"/>
              <a:sym typeface="Times New Roman"/>
            </a:endParaRPr>
          </a:p>
        </p:txBody>
      </p:sp>
      <p:sp>
        <p:nvSpPr>
          <p:cNvPr id="324" name="Google Shape;324;p53"/>
          <p:cNvSpPr txBox="1">
            <a:spLocks noGrp="1"/>
          </p:cNvSpPr>
          <p:nvPr>
            <p:ph type="body" idx="1"/>
          </p:nvPr>
        </p:nvSpPr>
        <p:spPr>
          <a:xfrm>
            <a:off x="288324" y="897924"/>
            <a:ext cx="7257535" cy="3937687"/>
          </a:xfrm>
          <a:prstGeom prst="rect">
            <a:avLst/>
          </a:prstGeom>
        </p:spPr>
        <p:txBody>
          <a:bodyPr spcFirstLastPara="1" wrap="square" lIns="91425" tIns="45700" rIns="91425" bIns="45700" anchor="t" anchorCtr="0">
            <a:noAutofit/>
          </a:bodyPr>
          <a:lstStyle/>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The developed Real-Time Environmental Parameters Display system successfully demonstrates the ability to monitor critical environmental parameters, including CO₂ concentration, dust particles, temperature, and humidity, in real time using an ESP 32-based embedded system.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During testing, the system consistently captured sensor data accurately and triggered the buzzer alert whenever any parameter crossed its predefined threshold, proving its effectiveness in detecting potentially hazardous conditions.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The integration of MQ sensor and DHT11 sensor, combined with a simple yet reliable microcontroller platform, ensures low-cost, portable, and efficient operation, making it suitable for a wide range of indoor and industrial applications.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The results indicate that the system can significantly enhance environmental safety awareness, enabling timely intervention to protect human health. </a:t>
            </a:r>
            <a:endParaRPr sz="1200" dirty="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4"/>
          <p:cNvSpPr txBox="1">
            <a:spLocks noGrp="1"/>
          </p:cNvSpPr>
          <p:nvPr>
            <p:ph type="title"/>
          </p:nvPr>
        </p:nvSpPr>
        <p:spPr>
          <a:xfrm>
            <a:off x="637725" y="277300"/>
            <a:ext cx="74220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3600"/>
              <a:buNone/>
            </a:pPr>
            <a:r>
              <a:rPr lang="en" sz="2400" b="1">
                <a:latin typeface="Times New Roman"/>
                <a:ea typeface="Times New Roman"/>
                <a:cs typeface="Times New Roman"/>
                <a:sym typeface="Times New Roman"/>
              </a:rPr>
              <a:t>CONCLUSION</a:t>
            </a:r>
            <a:endParaRPr sz="2400" b="1">
              <a:latin typeface="Times New Roman"/>
              <a:ea typeface="Times New Roman"/>
              <a:cs typeface="Times New Roman"/>
              <a:sym typeface="Times New Roman"/>
            </a:endParaRPr>
          </a:p>
        </p:txBody>
      </p:sp>
      <p:sp>
        <p:nvSpPr>
          <p:cNvPr id="331" name="Google Shape;331;p54"/>
          <p:cNvSpPr txBox="1">
            <a:spLocks noGrp="1"/>
          </p:cNvSpPr>
          <p:nvPr>
            <p:ph type="body" idx="1"/>
          </p:nvPr>
        </p:nvSpPr>
        <p:spPr>
          <a:xfrm>
            <a:off x="214184" y="1002700"/>
            <a:ext cx="7241059" cy="3784825"/>
          </a:xfrm>
          <a:prstGeom prst="rect">
            <a:avLst/>
          </a:prstGeom>
          <a:noFill/>
          <a:ln>
            <a:noFill/>
          </a:ln>
        </p:spPr>
        <p:txBody>
          <a:bodyPr spcFirstLastPara="1" wrap="square" lIns="91425" tIns="45700" rIns="91425" bIns="45700" anchor="t" anchorCtr="0">
            <a:noAutofit/>
          </a:bodyPr>
          <a:lstStyle/>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The Real-Time Environmental Parameters Display system successfully demonstrates an efficient and reliable method for monitoring critical environmental factors such as CO₂ concentration, dust particles, temperature, and humidity.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By integrating ESP32, MQ sensor, and DHT11, the system provides accurate, real-time data and triggers a buzzer alert whenever thresholds are exceeded, ensuring timely warning of unsafe conditions.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The project highlights the effectiveness of embedded systems for environmental monitoring, offering a cost-effective, portable, and user-friendly solution.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Overall, the system fulfills its objectives by enhancing awareness of environmental conditions, improving safety, and providing a practical platform and advanced predictive features for broader applications in homes, industries, and public spaces.</a:t>
            </a:r>
            <a:endParaRPr sz="1200" dirty="0">
              <a:latin typeface="Times New Roman"/>
              <a:ea typeface="Times New Roman"/>
              <a:cs typeface="Times New Roman"/>
              <a:sym typeface="Times New Roman"/>
            </a:endParaRPr>
          </a:p>
          <a:p>
            <a:pPr marL="0" lvl="0" indent="0" algn="l" rtl="0">
              <a:lnSpc>
                <a:spcPct val="150000"/>
              </a:lnSpc>
              <a:spcBef>
                <a:spcPts val="560"/>
              </a:spcBef>
              <a:spcAft>
                <a:spcPts val="0"/>
              </a:spcAft>
              <a:buNone/>
            </a:pPr>
            <a:endParaRPr sz="1200" dirty="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5"/>
          <p:cNvSpPr txBox="1">
            <a:spLocks noGrp="1"/>
          </p:cNvSpPr>
          <p:nvPr>
            <p:ph type="title"/>
          </p:nvPr>
        </p:nvSpPr>
        <p:spPr>
          <a:xfrm>
            <a:off x="192843" y="-4"/>
            <a:ext cx="6827700" cy="7254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 sz="2400" b="1">
                <a:latin typeface="Times New Roman"/>
                <a:ea typeface="Times New Roman"/>
                <a:cs typeface="Times New Roman"/>
                <a:sym typeface="Times New Roman"/>
              </a:rPr>
              <a:t>FUTURE SCOPE</a:t>
            </a:r>
            <a:endParaRPr sz="2400" b="1">
              <a:latin typeface="Times New Roman"/>
              <a:ea typeface="Times New Roman"/>
              <a:cs typeface="Times New Roman"/>
              <a:sym typeface="Times New Roman"/>
            </a:endParaRPr>
          </a:p>
        </p:txBody>
      </p:sp>
      <p:sp>
        <p:nvSpPr>
          <p:cNvPr id="338" name="Google Shape;338;p55"/>
          <p:cNvSpPr txBox="1">
            <a:spLocks noGrp="1"/>
          </p:cNvSpPr>
          <p:nvPr>
            <p:ph type="body" idx="1"/>
          </p:nvPr>
        </p:nvSpPr>
        <p:spPr>
          <a:xfrm>
            <a:off x="192843" y="823784"/>
            <a:ext cx="7336541" cy="4319716"/>
          </a:xfrm>
          <a:prstGeom prst="rect">
            <a:avLst/>
          </a:prstGeom>
        </p:spPr>
        <p:txBody>
          <a:bodyPr spcFirstLastPara="1" wrap="square" lIns="91425" tIns="45700" rIns="91425" bIns="45700" anchor="t" anchorCtr="0">
            <a:normAutofit/>
          </a:bodyPr>
          <a:lstStyle/>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The proposed real-time environmental monitoring system can be significantly enhanced and expanded in future developments.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One major improvement is the integration of IoT technology, enabling remote monitoring, cloud-based data storage, and access to environmental data from anywhere via web or mobile applications.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The system can also be upgraded to include additional sensors for detecting harmful gases such as CO, NO₂, and PM2.5, making it suitable for both indoor and outdoor air quality monitoring.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By incorporating machine learning algorithms, the system could analyze trends in environmental parameters and predict potential hazards, allowing proactive measures for pollution control and health safety. </a:t>
            </a:r>
            <a:endParaRPr sz="1200" dirty="0">
              <a:latin typeface="Times New Roman"/>
              <a:ea typeface="Times New Roman"/>
              <a:cs typeface="Times New Roman"/>
              <a:sym typeface="Times New Roman"/>
            </a:endParaRPr>
          </a:p>
          <a:p>
            <a:pPr marL="457200" lvl="0" indent="-304800" algn="just" rtl="0">
              <a:lnSpc>
                <a:spcPct val="150000"/>
              </a:lnSpc>
              <a:spcBef>
                <a:spcPts val="0"/>
              </a:spcBef>
              <a:spcAft>
                <a:spcPts val="0"/>
              </a:spcAft>
              <a:buSzPts val="1200"/>
              <a:buFont typeface="Times New Roman"/>
              <a:buChar char="●"/>
            </a:pPr>
            <a:r>
              <a:rPr lang="en" sz="1200" dirty="0">
                <a:latin typeface="Times New Roman"/>
                <a:ea typeface="Times New Roman"/>
                <a:cs typeface="Times New Roman"/>
                <a:sym typeface="Times New Roman"/>
              </a:rPr>
              <a:t>Furthermore, the monitoring system can be linked with automated control mechanisms such as smart ventilation, air purifiers, or alarm systems for immediate corrective action.</a:t>
            </a:r>
            <a:endParaRPr sz="1200" dirty="0">
              <a:latin typeface="Times New Roman"/>
              <a:ea typeface="Times New Roman"/>
              <a:cs typeface="Times New Roman"/>
              <a:sym typeface="Times New Roman"/>
            </a:endParaRPr>
          </a:p>
          <a:p>
            <a:pPr marL="457200" lvl="0" indent="0" algn="just" rtl="0">
              <a:lnSpc>
                <a:spcPct val="150000"/>
              </a:lnSpc>
              <a:spcBef>
                <a:spcPts val="0"/>
              </a:spcBef>
              <a:spcAft>
                <a:spcPts val="1000"/>
              </a:spcAft>
              <a:buNone/>
            </a:pPr>
            <a:endParaRPr sz="1200" dirty="0">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6"/>
          <p:cNvSpPr txBox="1">
            <a:spLocks noGrp="1"/>
          </p:cNvSpPr>
          <p:nvPr>
            <p:ph type="title"/>
          </p:nvPr>
        </p:nvSpPr>
        <p:spPr>
          <a:xfrm>
            <a:off x="448168" y="117446"/>
            <a:ext cx="6827700" cy="7254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3600"/>
              <a:buNone/>
            </a:pPr>
            <a:r>
              <a:rPr lang="en" sz="2400" b="1">
                <a:latin typeface="Times New Roman"/>
                <a:ea typeface="Times New Roman"/>
                <a:cs typeface="Times New Roman"/>
                <a:sym typeface="Times New Roman"/>
              </a:rPr>
              <a:t>REFERENCES</a:t>
            </a:r>
            <a:endParaRPr sz="2400" b="1">
              <a:latin typeface="Times New Roman"/>
              <a:ea typeface="Times New Roman"/>
              <a:cs typeface="Times New Roman"/>
              <a:sym typeface="Times New Roman"/>
            </a:endParaRPr>
          </a:p>
        </p:txBody>
      </p:sp>
      <p:sp>
        <p:nvSpPr>
          <p:cNvPr id="345" name="Google Shape;345;p56"/>
          <p:cNvSpPr txBox="1">
            <a:spLocks noGrp="1"/>
          </p:cNvSpPr>
          <p:nvPr>
            <p:ph type="body" idx="1"/>
          </p:nvPr>
        </p:nvSpPr>
        <p:spPr>
          <a:xfrm>
            <a:off x="181232" y="939113"/>
            <a:ext cx="7315200" cy="3904735"/>
          </a:xfrm>
          <a:prstGeom prst="rect">
            <a:avLst/>
          </a:prstGeom>
          <a:noFill/>
          <a:ln>
            <a:noFill/>
          </a:ln>
        </p:spPr>
        <p:txBody>
          <a:bodyPr spcFirstLastPara="1" wrap="square" lIns="91425" tIns="45700" rIns="91425" bIns="45700" anchor="t" anchorCtr="0">
            <a:noAutofit/>
          </a:bodyPr>
          <a:lstStyle/>
          <a:p>
            <a:pPr marL="457200" lvl="0" indent="-304800" algn="just" rtl="0">
              <a:lnSpc>
                <a:spcPct val="150000"/>
              </a:lnSpc>
              <a:spcBef>
                <a:spcPts val="0"/>
              </a:spcBef>
              <a:spcAft>
                <a:spcPts val="0"/>
              </a:spcAft>
              <a:buSzPts val="1200"/>
              <a:buFont typeface="Times New Roman"/>
              <a:buAutoNum type="arabicPeriod"/>
            </a:pPr>
            <a:r>
              <a:rPr lang="en" sz="1200" dirty="0">
                <a:latin typeface="Times New Roman"/>
                <a:ea typeface="Times New Roman"/>
                <a:cs typeface="Times New Roman"/>
                <a:sym typeface="Times New Roman"/>
              </a:rPr>
              <a:t>M. Deepshika, S.Ganesh,  M.Vikram, A. Deva Kalyan. “Real Time Air Quality Monitoring System”. Anil Neerukonda Institute Of Technology And Sciences. 2021. </a:t>
            </a:r>
            <a:endParaRPr sz="1200" dirty="0">
              <a:latin typeface="Times New Roman"/>
              <a:ea typeface="Times New Roman"/>
              <a:cs typeface="Times New Roman"/>
              <a:sym typeface="Times New Roman"/>
            </a:endParaRPr>
          </a:p>
          <a:p>
            <a:pPr marL="457200" lvl="0" indent="-304800" algn="just" rtl="0">
              <a:lnSpc>
                <a:spcPct val="150000"/>
              </a:lnSpc>
              <a:spcBef>
                <a:spcPts val="1000"/>
              </a:spcBef>
              <a:spcAft>
                <a:spcPts val="0"/>
              </a:spcAft>
              <a:buSzPts val="1200"/>
              <a:buFont typeface="Times New Roman"/>
              <a:buAutoNum type="arabicPeriod"/>
            </a:pPr>
            <a:r>
              <a:rPr lang="en" sz="1200" dirty="0">
                <a:latin typeface="Times New Roman"/>
                <a:ea typeface="Times New Roman"/>
                <a:cs typeface="Times New Roman"/>
                <a:sym typeface="Times New Roman"/>
              </a:rPr>
              <a:t>Thanushree D, Vaishnavi G. “Air Quality Detection using Embedded Systems”. International Journal of Advanced Research in Computer and Communication Engineering Vol. 10, Issue 7, July 2021 </a:t>
            </a:r>
            <a:endParaRPr sz="1200" dirty="0">
              <a:latin typeface="Times New Roman"/>
              <a:ea typeface="Times New Roman"/>
              <a:cs typeface="Times New Roman"/>
              <a:sym typeface="Times New Roman"/>
            </a:endParaRPr>
          </a:p>
          <a:p>
            <a:pPr marL="457200" lvl="0" indent="-304800" algn="just" rtl="0">
              <a:lnSpc>
                <a:spcPct val="150000"/>
              </a:lnSpc>
              <a:spcBef>
                <a:spcPts val="1000"/>
              </a:spcBef>
              <a:spcAft>
                <a:spcPts val="0"/>
              </a:spcAft>
              <a:buSzPts val="1200"/>
              <a:buFont typeface="Times New Roman"/>
              <a:buAutoNum type="arabicPeriod"/>
            </a:pPr>
            <a:r>
              <a:rPr lang="en" sz="1200" dirty="0">
                <a:latin typeface="Times New Roman"/>
                <a:ea typeface="Times New Roman"/>
                <a:cs typeface="Times New Roman"/>
                <a:sym typeface="Times New Roman"/>
              </a:rPr>
              <a:t>Yeshvant.Ba, Mukesh.P, Yokeswaran.T, Vignesh.S. “Real Time Temperature And Humidity Monitoring System”. Student Journal of Electrical and Electronics Engineering Issue No. 1, Vol. 1, 2022. </a:t>
            </a:r>
            <a:endParaRPr sz="1200" dirty="0">
              <a:latin typeface="Times New Roman"/>
              <a:ea typeface="Times New Roman"/>
              <a:cs typeface="Times New Roman"/>
              <a:sym typeface="Times New Roman"/>
            </a:endParaRPr>
          </a:p>
          <a:p>
            <a:pPr marL="457200" lvl="0" indent="-304800" algn="just" rtl="0">
              <a:lnSpc>
                <a:spcPct val="150000"/>
              </a:lnSpc>
              <a:spcBef>
                <a:spcPts val="1000"/>
              </a:spcBef>
              <a:spcAft>
                <a:spcPts val="0"/>
              </a:spcAft>
              <a:buSzPts val="1200"/>
              <a:buFont typeface="Times New Roman"/>
              <a:buAutoNum type="arabicPeriod"/>
            </a:pPr>
            <a:r>
              <a:rPr lang="en" sz="1200" dirty="0">
                <a:latin typeface="Times New Roman"/>
                <a:ea typeface="Times New Roman"/>
                <a:cs typeface="Times New Roman"/>
                <a:sym typeface="Times New Roman"/>
              </a:rPr>
              <a:t>Fatima Khan, Amna Khan, Tariq Ali, Tariq Shahzad, Tehseen Mazhar, Sunawar Khan, Muhammad Adnan Khan, Habib Hamam. “IoT-Driven Pollution Detection System for Indoor and Outdoor Environments”. Tech science Press. </a:t>
            </a:r>
            <a:r>
              <a:rPr lang="en" sz="1200" dirty="0">
                <a:uFill>
                  <a:noFill/>
                </a:uFill>
                <a:latin typeface="Times New Roman"/>
                <a:ea typeface="Times New Roman"/>
                <a:cs typeface="Times New Roman"/>
                <a:sym typeface="Times New Roman"/>
                <a:hlinkClick r:id="rId3"/>
              </a:rPr>
              <a:t>Volume 86, Issue 2</a:t>
            </a:r>
            <a:r>
              <a:rPr lang="en" sz="1200" dirty="0">
                <a:latin typeface="Times New Roman"/>
                <a:ea typeface="Times New Roman"/>
                <a:cs typeface="Times New Roman"/>
                <a:sym typeface="Times New Roman"/>
              </a:rPr>
              <a:t>, 9 December 2025. </a:t>
            </a:r>
            <a:endParaRPr sz="1200" dirty="0">
              <a:latin typeface="Times New Roman"/>
              <a:ea typeface="Times New Roman"/>
              <a:cs typeface="Times New Roman"/>
              <a:sym typeface="Times New Roman"/>
            </a:endParaRPr>
          </a:p>
          <a:p>
            <a:pPr marL="457200" lvl="0" indent="-304800" algn="just" rtl="0">
              <a:lnSpc>
                <a:spcPct val="150000"/>
              </a:lnSpc>
              <a:spcBef>
                <a:spcPts val="1000"/>
              </a:spcBef>
              <a:spcAft>
                <a:spcPts val="0"/>
              </a:spcAft>
              <a:buSzPts val="1200"/>
              <a:buFont typeface="Times New Roman"/>
              <a:buAutoNum type="arabicPeriod"/>
            </a:pPr>
            <a:r>
              <a:rPr lang="en" sz="1200" dirty="0">
                <a:latin typeface="Times New Roman"/>
                <a:ea typeface="Times New Roman"/>
                <a:cs typeface="Times New Roman"/>
                <a:sym typeface="Times New Roman"/>
              </a:rPr>
              <a:t>Osama Alsamrai, Maria D. Redel-Macias and M. P. Dorado. “Real-Time Intelligent Monitoring of Outdoor Air Quality in an Urban Environment Using IoT and Machine Learning Algorithms”. Appl. Sci. 2025. </a:t>
            </a:r>
            <a:endParaRPr sz="1200" dirty="0">
              <a:latin typeface="Times New Roman"/>
              <a:ea typeface="Times New Roman"/>
              <a:cs typeface="Times New Roman"/>
              <a:sym typeface="Times New Roman"/>
            </a:endParaRPr>
          </a:p>
          <a:p>
            <a:pPr marL="0" lvl="0" indent="0" algn="just" rtl="0">
              <a:lnSpc>
                <a:spcPct val="150000"/>
              </a:lnSpc>
              <a:spcBef>
                <a:spcPts val="1000"/>
              </a:spcBef>
              <a:spcAft>
                <a:spcPts val="0"/>
              </a:spcAft>
              <a:buClr>
                <a:schemeClr val="dk1"/>
              </a:buClr>
              <a:buSzPts val="1100"/>
              <a:buFont typeface="Arial"/>
              <a:buNone/>
            </a:pPr>
            <a:endParaRPr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7"/>
          <p:cNvSpPr txBox="1">
            <a:spLocks noGrp="1"/>
          </p:cNvSpPr>
          <p:nvPr>
            <p:ph type="body" idx="4294967295"/>
          </p:nvPr>
        </p:nvSpPr>
        <p:spPr>
          <a:xfrm>
            <a:off x="2412350" y="1989472"/>
            <a:ext cx="4041900" cy="8415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SzPts val="2400"/>
              <a:buNone/>
            </a:pPr>
            <a:r>
              <a:rPr lang="en" sz="3600" b="1">
                <a:latin typeface="Times New Roman"/>
                <a:ea typeface="Times New Roman"/>
                <a:cs typeface="Times New Roman"/>
                <a:sym typeface="Times New Roman"/>
              </a:rPr>
              <a:t>THANK YOU !</a:t>
            </a:r>
            <a:endParaRPr sz="3600" b="1">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3011</Words>
  <Application>Microsoft Office PowerPoint</Application>
  <PresentationFormat>On-screen Show (16:9)</PresentationFormat>
  <Paragraphs>224</Paragraphs>
  <Slides>34</Slides>
  <Notes>31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34</vt:i4>
      </vt:variant>
    </vt:vector>
  </HeadingPairs>
  <TitlesOfParts>
    <vt:vector size="41" baseType="lpstr">
      <vt:lpstr>Arial</vt:lpstr>
      <vt:lpstr>Calibri</vt:lpstr>
      <vt:lpstr>Gill Sans</vt:lpstr>
      <vt:lpstr>Open Sans</vt:lpstr>
      <vt:lpstr>Times New Roman</vt:lpstr>
      <vt:lpstr>Simple Light</vt:lpstr>
      <vt:lpstr>Office Theme</vt:lpstr>
      <vt:lpstr>Real Time Environmental Parameters Display</vt:lpstr>
      <vt:lpstr>PowerPoint Presentation</vt:lpstr>
      <vt:lpstr>CONTENT</vt:lpstr>
      <vt:lpstr>ABSTRACT</vt:lpstr>
      <vt:lpstr>INTRODUCTION</vt:lpstr>
      <vt:lpstr>PROBLEM STATEMENT</vt:lpstr>
      <vt:lpstr>PROPOSED SOLUTION </vt:lpstr>
      <vt:lpstr>OBJECTIVES</vt:lpstr>
      <vt:lpstr>LITERATURE REVIEW</vt:lpstr>
      <vt:lpstr>PowerPoint Presentation</vt:lpstr>
      <vt:lpstr>RESEARCH METHODOLOGY</vt:lpstr>
      <vt:lpstr>SYSTEM REQUIREMENT</vt:lpstr>
      <vt:lpstr>BLOCK DIAGRAM</vt:lpstr>
      <vt:lpstr>FLOWCHART </vt:lpstr>
      <vt:lpstr> WORKING  </vt:lpstr>
      <vt:lpstr>CIRCUIT DIAGRAM</vt:lpstr>
      <vt:lpstr>ESP32 MICROCONTROLLER</vt:lpstr>
      <vt:lpstr>ESP32 FEATURES</vt:lpstr>
      <vt:lpstr>PowerPoint Presentation</vt:lpstr>
      <vt:lpstr>ARDUINO IDE PROGRAMMING SOFTWARE</vt:lpstr>
      <vt:lpstr>MQ SENSOR</vt:lpstr>
      <vt:lpstr>PowerPoint Presentation</vt:lpstr>
      <vt:lpstr>BUZZER</vt:lpstr>
      <vt:lpstr>TM1637 DISPLAY</vt:lpstr>
      <vt:lpstr>PROTEUS SIMULATION DESIGN SOFTWARE</vt:lpstr>
      <vt:lpstr>ADVANTAGES</vt:lpstr>
      <vt:lpstr>APPLICATIONS</vt:lpstr>
      <vt:lpstr>EXPERIMENTAL SETUP </vt:lpstr>
      <vt:lpstr>PowerPoint Presentation</vt:lpstr>
      <vt:lpstr>RESULTS</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Avantika Yerawar</dc:creator>
  <cp:lastModifiedBy>pranay jadhao</cp:lastModifiedBy>
  <cp:revision>13</cp:revision>
  <dcterms:modified xsi:type="dcterms:W3CDTF">2026-04-07T09:52:50Z</dcterms:modified>
</cp:coreProperties>
</file>