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3"/>
  </p:sldMasterIdLst>
  <p:notesMasterIdLst>
    <p:notesMasterId r:id="rId16"/>
  </p:notesMasterIdLst>
  <p:sldIdLst>
    <p:sldId id="256" r:id="rId4"/>
    <p:sldId id="276" r:id="rId5"/>
    <p:sldId id="262" r:id="rId6"/>
    <p:sldId id="257" r:id="rId7"/>
    <p:sldId id="278" r:id="rId8"/>
    <p:sldId id="279" r:id="rId9"/>
    <p:sldId id="273" r:id="rId10"/>
    <p:sldId id="272" r:id="rId11"/>
    <p:sldId id="277" r:id="rId12"/>
    <p:sldId id="275" r:id="rId13"/>
    <p:sldId id="274" r:id="rId14"/>
    <p:sldId id="263" r:id="rId15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B4A6"/>
    <a:srgbClr val="734F29"/>
    <a:srgbClr val="D24726"/>
    <a:srgbClr val="DD462F"/>
    <a:srgbClr val="AEB785"/>
    <a:srgbClr val="EFD5A2"/>
    <a:srgbClr val="3B3026"/>
    <a:srgbClr val="ECE1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280" autoAdjust="0"/>
  </p:normalViewPr>
  <p:slideViewPr>
    <p:cSldViewPr snapToGrid="0">
      <p:cViewPr varScale="1">
        <p:scale>
          <a:sx n="75" d="100"/>
          <a:sy n="75" d="100"/>
        </p:scale>
        <p:origin x="854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AFD3E524-F178-4D32-A35F-574CB61DA980}" type="datetimeFigureOut">
              <a:rPr lang="en-US"/>
              <a:pPr>
                <a:defRPr/>
              </a:pPr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8EC52372-2B49-4552-81A2-4B1561FC52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538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EF635A4-3112-46D8-8424-5652DEB4C81B}" type="slidenum">
              <a:rPr lang="en-US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1033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/>
              <a:t>In Slide Show mode, click the arrow to enter the PowerPoint Getting Started Center.</a:t>
            </a: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25FF1D7-0B16-4968-8444-1BE0ECB3DBDA}" type="slidenum">
              <a:rPr lang="en-US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063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486568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12192000" cy="486568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18862F-DF60-4518-AD5C-1CB91507BE1C}" type="datetimeFigureOut">
              <a:rPr lang="en-US"/>
              <a:pPr>
                <a:defRPr/>
              </a:pPr>
              <a:t>3/23/2026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B19CF-6E92-41AA-AB22-DA2846E065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460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B5B43A-D697-45E8-B6FF-378B60777EB8}" type="datetimeFigureOut">
              <a:rPr lang="en-US"/>
              <a:pPr>
                <a:defRPr/>
              </a:pPr>
              <a:t>3/23/2026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8EAF51-CDC2-41DF-B5AC-C6050F0798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235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656263" y="1709738"/>
            <a:ext cx="6535737" cy="357505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5656263" y="1709738"/>
            <a:ext cx="6535737" cy="357505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B3E234-8EB4-49E0-9677-F719494D4C18}" type="datetimeFigureOut">
              <a:rPr lang="en-US"/>
              <a:pPr>
                <a:defRPr/>
              </a:pPr>
              <a:t>3/23/2026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E7061F-F314-4060-8DEA-4DD2DC8F2F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164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E98EC2-E248-41F8-8B3F-D59BC94BF13F}" type="datetimeFigureOut">
              <a:rPr lang="en-US"/>
              <a:pPr>
                <a:defRPr/>
              </a:pPr>
              <a:t>3/23/2026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3B631C-91DA-49F5-B8DB-971ED7334B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06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C56BD3-9B6B-4828-B8C7-3FAA4FF57E88}" type="datetimeFigureOut">
              <a:rPr lang="en-US"/>
              <a:pPr>
                <a:defRPr/>
              </a:pPr>
              <a:t>3/23/2026</a:t>
            </a:fld>
            <a:endParaRPr lang="en-US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6DE3E4-F5BF-4C1A-B21D-6F623CEEB5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767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1A276D-46B8-4793-85A0-467C290645FF}" type="datetimeFigureOut">
              <a:rPr lang="en-US"/>
              <a:pPr>
                <a:defRPr/>
              </a:pPr>
              <a:t>3/23/2026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4F0A0-8ABA-412D-998C-C911DD0DCE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08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4E04CC-043F-4B4C-AB88-84C024FE7CEC}" type="datetimeFigureOut">
              <a:rPr lang="en-US"/>
              <a:pPr>
                <a:defRPr/>
              </a:pPr>
              <a:t>3/23/2026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8CBC24-830F-469A-80F3-DA13127D45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336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1AFE5-007E-4817-9511-039C2AC05926}" type="datetimeFigureOut">
              <a:rPr lang="en-US"/>
              <a:pPr>
                <a:defRPr/>
              </a:pPr>
              <a:t>3/23/2026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BF821E-F451-4286-800F-CE7D7861CD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997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96EAD-B4B3-41FC-93E0-43E922790280}" type="datetimeFigureOut">
              <a:rPr lang="en-US"/>
              <a:pPr>
                <a:defRPr/>
              </a:pPr>
              <a:t>3/23/2026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F79F8E-6B71-4C65-BAC3-A1041114EA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870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863D77-9F43-4470-AEBD-358E526B97FE}" type="datetimeFigureOut">
              <a:rPr lang="en-US"/>
              <a:pPr>
                <a:defRPr/>
              </a:pPr>
              <a:t>3/23/2026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7312B3-C1B4-4645-B9C4-644C137319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112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094913" y="0"/>
            <a:ext cx="2097087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10094913" y="0"/>
            <a:ext cx="2097087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7BF481-ADB3-4F07-9D09-F1FDF5726692}" type="datetimeFigureOut">
              <a:rPr lang="en-US"/>
              <a:pPr>
                <a:defRPr/>
              </a:pPr>
              <a:t>3/23/2026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12EAFC-F20D-488B-B6D3-48B5C79ED3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082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B7C11D5-D88E-46F1-A7BA-AA5ADE29690A}" type="datetimeFigureOut">
              <a:rPr lang="en-US"/>
              <a:pPr>
                <a:defRPr/>
              </a:pPr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F136D4B-6731-43DB-9DD4-A8903EE94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0" r:id="rId7"/>
    <p:sldLayoutId id="2147483681" r:id="rId8"/>
    <p:sldLayoutId id="2147483682" r:id="rId9"/>
    <p:sldLayoutId id="2147483689" r:id="rId10"/>
    <p:sldLayoutId id="214748369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egoe UI Light" panose="020B0502040204020203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egoe UI Light" panose="020B0502040204020203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egoe UI Light" panose="020B0502040204020203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egoe UI Light" panose="020B0502040204020203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egoe UI Light" panose="020B0502040204020203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egoe UI Light" panose="020B0502040204020203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egoe UI Light" panose="020B0502040204020203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egoe UI Light" panose="020B0502040204020203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o15.officeredir.microsoft.com/r/rlid2013GettingStartedCntrPPT?clid=1033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1961804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  <a:defRPr/>
            </a:pPr>
            <a:endParaRPr lang="en-IN" sz="1800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0" y="6779491"/>
            <a:ext cx="10748963" cy="57872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 kern="1200">
                <a:solidFill>
                  <a:srgbClr val="D24726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IN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0159"/>
            <a:ext cx="12192000" cy="369454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 fontAlgn="auto">
              <a:spcAft>
                <a:spcPts val="0"/>
              </a:spcAft>
              <a:defRPr/>
            </a:pP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fontAlgn="auto">
              <a:spcAft>
                <a:spcPts val="0"/>
              </a:spcAft>
              <a:defRPr/>
            </a:pP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fontAlgn="auto">
              <a:spcAft>
                <a:spcPts val="0"/>
              </a:spcAft>
              <a:defRPr/>
            </a:pP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International Conference on Advances in Science</a:t>
            </a:r>
            <a:r>
              <a:rPr lang="en-IN" sz="2800" b="1">
                <a:latin typeface="Arial" panose="020B0604020202020204" pitchFamily="34" charset="0"/>
                <a:cs typeface="Arial" panose="020B0604020202020204" pitchFamily="34" charset="0"/>
              </a:rPr>
              <a:t>, Technology &amp; Interdisciplinary 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Innovations (ICASTII-2026)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On 24</a:t>
            </a:r>
            <a:r>
              <a:rPr lang="en-IN" sz="14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-25</a:t>
            </a:r>
            <a:r>
              <a:rPr lang="en-IN" sz="14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 March 2026</a:t>
            </a:r>
            <a:endParaRPr lang="en-IN" sz="1400" dirty="0"/>
          </a:p>
          <a:p>
            <a:pPr algn="ctr"/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244" y="1888577"/>
            <a:ext cx="1450974" cy="153022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3590479"/>
            <a:ext cx="12192000" cy="3267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noFill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9149" y="4037890"/>
            <a:ext cx="11573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91732"/>
              </p:ext>
            </p:extLst>
          </p:nvPr>
        </p:nvGraphicFramePr>
        <p:xfrm>
          <a:off x="129150" y="4210698"/>
          <a:ext cx="11933701" cy="2548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3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6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6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6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1953">
                <a:tc gridSpan="4"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rial Unicode MS" panose="020B0604020202020204" pitchFamily="34" charset="-128"/>
                          <a:cs typeface="Arial" panose="020B0604020202020204" pitchFamily="34" charset="0"/>
                        </a:rPr>
                        <a:t> Paper Title: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rial Unicode MS" panose="020B0604020202020204" pitchFamily="34" charset="-128"/>
                          <a:cs typeface="Arial" panose="020B0604020202020204" pitchFamily="34" charset="0"/>
                        </a:rPr>
                        <a:t>Real Time Environmental Parameters Display</a:t>
                      </a:r>
                      <a:endParaRPr lang="en-IN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 Unicode MS" panose="020B0604020202020204" pitchFamily="34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1953">
                <a:tc>
                  <a:txBody>
                    <a:bodyPr/>
                    <a:lstStyle/>
                    <a:p>
                      <a:pPr>
                        <a:tabLst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Paper ID:</a:t>
                      </a:r>
                      <a:endParaRPr lang="en-I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ICASTII-2026-ENTC-355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</a:t>
                      </a: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Track</a:t>
                      </a:r>
                      <a:r>
                        <a:rPr lang="en-US" b="1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No:</a:t>
                      </a:r>
                      <a:r>
                        <a:rPr lang="en-US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6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4249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Presenter Name: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Avantika K. Yerawar</a:t>
                      </a:r>
                    </a:p>
                    <a:p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Pranay V.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Jadhao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162413" y="3626980"/>
            <a:ext cx="55066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Theme: Sustainable Innovation for a Smarter Future</a:t>
            </a:r>
            <a:endParaRPr lang="en-IN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512EE-AC03-B27E-93DF-493986D08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Content 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3998C-C261-A03D-6CC3-C3903BA6B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680" y="1605280"/>
            <a:ext cx="5100320" cy="5008879"/>
          </a:xfrm>
        </p:spPr>
        <p:txBody>
          <a:bodyPr>
            <a:normAutofit fontScale="8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Abstract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b="1" dirty="0">
                <a:solidFill>
                  <a:schemeClr val="tx1"/>
                </a:solidFill>
              </a:rPr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b="1" dirty="0">
                <a:solidFill>
                  <a:schemeClr val="tx1"/>
                </a:solidFill>
              </a:rPr>
              <a:t>Proposed Solution</a:t>
            </a:r>
            <a:endParaRPr lang="en-US" sz="19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b="1" dirty="0">
                <a:solidFill>
                  <a:schemeClr val="tx1"/>
                </a:solidFill>
              </a:rPr>
              <a:t>System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Components Used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Working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b="1" dirty="0">
                <a:solidFill>
                  <a:schemeClr val="tx1"/>
                </a:solidFill>
              </a:rPr>
              <a:t>Conclusion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799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604838" y="0"/>
            <a:ext cx="10748962" cy="1208088"/>
          </a:xfrm>
        </p:spPr>
        <p:txBody>
          <a:bodyPr/>
          <a:lstStyle/>
          <a:p>
            <a:r>
              <a:rPr lang="en-US" b="1" dirty="0"/>
              <a:t>Abstract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1679" y="1727201"/>
            <a:ext cx="9885681" cy="4734560"/>
          </a:xfrm>
        </p:spPr>
        <p:txBody>
          <a:bodyPr rtlCol="0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Environmental monitoring has become important due to increasing concerns about air pollution, climate change and human health.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 Environmental parameters such as temperature, humidity, CO₂ concentration and dust particles directly affect living conditions.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 ESP32-based systems provide a low-cost and flexible solution for real-time monitoring.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 These systems integrate multiple sensors and display environmental data instantly using local display devices.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655" y="5902036"/>
            <a:ext cx="828185" cy="87251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604838" y="0"/>
            <a:ext cx="10748962" cy="1208088"/>
          </a:xfrm>
        </p:spPr>
        <p:txBody>
          <a:bodyPr/>
          <a:lstStyle/>
          <a:p>
            <a:r>
              <a:rPr lang="en-US" b="1" dirty="0"/>
              <a:t>Introduction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287000" cy="4544695"/>
          </a:xfrm>
        </p:spPr>
        <p:txBody>
          <a:bodyPr rtlCol="0"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Environmental monitoring is essential for maintaining human health and ecological balance.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 Rapid urbanization, industrialization and vehicular emissions have increased environmental pollution.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Continuous monitoring of parameters such as temperature, humidity, CO₂ and dust concentration is necessary.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 Traditional monitoring systems are often expensive and complex.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Microcontroller-based embedded systems such as ESP32 provide an affordable and easy-to-use alternative for real-time environmental monitoring.</a:t>
            </a:r>
          </a:p>
          <a:p>
            <a:pPr fontAlgn="auto">
              <a:defRPr/>
            </a:pPr>
            <a:endParaRPr lang="en-US" sz="1800" dirty="0"/>
          </a:p>
          <a:p>
            <a:pPr fontAlgn="auto">
              <a:defRPr/>
            </a:pPr>
            <a:endParaRPr lang="en-US" sz="1800" dirty="0"/>
          </a:p>
          <a:p>
            <a:pPr fontAlgn="auto">
              <a:defRPr/>
            </a:pPr>
            <a:endParaRPr lang="en-US" sz="18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030" y="5985485"/>
            <a:ext cx="828185" cy="87251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3CB7B-13E8-E52A-559B-D38A2F401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9B4FB-AB4A-5743-C100-8512CCD48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10114279" cy="4697095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US" sz="1800" dirty="0">
                <a:solidFill>
                  <a:schemeClr val="tx1"/>
                </a:solidFill>
              </a:rPr>
              <a:t>• Environmental conditions such as temperature, humidity, CO₂ concentration, and dust levels directly affect human health and environmental quality.</a:t>
            </a:r>
          </a:p>
          <a:p>
            <a:pPr algn="just">
              <a:lnSpc>
                <a:spcPct val="170000"/>
              </a:lnSpc>
            </a:pPr>
            <a:r>
              <a:rPr lang="en-US" sz="1800" dirty="0">
                <a:solidFill>
                  <a:schemeClr val="tx1"/>
                </a:solidFill>
              </a:rPr>
              <a:t>• Traditional environmental monitoring systems are often expensive, complex, and dependent on advanced infrastructure.</a:t>
            </a:r>
          </a:p>
          <a:p>
            <a:pPr algn="just">
              <a:lnSpc>
                <a:spcPct val="170000"/>
              </a:lnSpc>
            </a:pPr>
            <a:r>
              <a:rPr lang="en-US" sz="1800" dirty="0">
                <a:solidFill>
                  <a:schemeClr val="tx1"/>
                </a:solidFill>
              </a:rPr>
              <a:t>• Many existing systems do not provide continuous real-time monitoring or are difficult to deploy in resource-constrained environments.</a:t>
            </a:r>
          </a:p>
          <a:p>
            <a:pPr algn="just">
              <a:lnSpc>
                <a:spcPct val="170000"/>
              </a:lnSpc>
            </a:pPr>
            <a:r>
              <a:rPr lang="en-US" sz="1800" dirty="0">
                <a:solidFill>
                  <a:schemeClr val="tx1"/>
                </a:solidFill>
              </a:rPr>
              <a:t>• There is a need for a low-cost, simple, and efficient system that can monitor multiple environmental parameters in real time. </a:t>
            </a:r>
          </a:p>
          <a:p>
            <a:pPr algn="just">
              <a:lnSpc>
                <a:spcPct val="17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792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91526-0CA0-1517-6258-F07ADBFDB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Proposed Solution </a:t>
            </a:r>
            <a:r>
              <a:rPr lang="en-IN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DC40F-0EA9-B98C-7F8D-C27D295A3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9738359" cy="4351338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solidFill>
                  <a:schemeClr val="tx1"/>
                </a:solidFill>
              </a:rPr>
              <a:t>• Develop a real-time environmental monitoring system using ESP32 and multiple sensors.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</a:rPr>
              <a:t>• Sensors such as DHT11, MQ-135, and dust sensors collect environmental data.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</a:rPr>
              <a:t>• The ESP32 microcontroller processes the sensor data and converts it into readable values.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</a:rPr>
              <a:t>• The measured parameters are displayed in real time using LCD or display modules.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</a:rPr>
              <a:t>• This system provides a low-cost, flexible, and easy-to-implement solution for monitoring environmental conditions. </a:t>
            </a:r>
          </a:p>
          <a:p>
            <a:pPr algn="just"/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231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604838" y="0"/>
            <a:ext cx="10748962" cy="1208088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r>
              <a:rPr lang="en-IN" sz="4000" b="1" dirty="0"/>
              <a:t>System Architecture  </a:t>
            </a:r>
            <a:r>
              <a:rPr lang="en-IN" b="1" dirty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9189720" cy="4839335"/>
          </a:xfrm>
        </p:spPr>
        <p:txBody>
          <a:bodyPr rtlCol="0">
            <a:no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• Main components of system: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– Sensors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– ESP32 (Microcontroller)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– Processing Unit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– Display System</a:t>
            </a:r>
          </a:p>
          <a:p>
            <a:r>
              <a:rPr lang="en-US" sz="1800" dirty="0">
                <a:solidFill>
                  <a:schemeClr val="tx1"/>
                </a:solidFill>
              </a:rPr>
              <a:t>• Sensors collect environmental data.</a:t>
            </a:r>
          </a:p>
          <a:p>
            <a:r>
              <a:rPr lang="en-US" sz="1800" dirty="0">
                <a:solidFill>
                  <a:schemeClr val="tx1"/>
                </a:solidFill>
              </a:rPr>
              <a:t>• ESP32 processes signals and converts into readable values.</a:t>
            </a:r>
          </a:p>
          <a:p>
            <a:r>
              <a:rPr lang="en-US" sz="1800" dirty="0">
                <a:solidFill>
                  <a:schemeClr val="tx1"/>
                </a:solidFill>
              </a:rPr>
              <a:t>• Output is displayed on LCD or display module.</a:t>
            </a:r>
          </a:p>
          <a:p>
            <a:r>
              <a:rPr lang="en-US" sz="1800" dirty="0">
                <a:solidFill>
                  <a:schemeClr val="tx1"/>
                </a:solidFill>
              </a:rPr>
              <a:t>The system is modular, flexible and easy to expand based on requirements.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6219" y="5935289"/>
            <a:ext cx="828185" cy="87251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094413" cy="4433888"/>
          </a:xfrm>
        </p:spPr>
        <p:txBody>
          <a:bodyPr rtlCol="0"/>
          <a:lstStyle/>
          <a:p>
            <a:pPr fontAlgn="auto">
              <a:defRPr/>
            </a:pPr>
            <a:r>
              <a:rPr lang="en-US" dirty="0"/>
              <a:t>.</a:t>
            </a:r>
          </a:p>
          <a:p>
            <a:pPr fontAlgn="auto">
              <a:defRPr/>
            </a:pPr>
            <a:endParaRPr lang="en-US" dirty="0"/>
          </a:p>
          <a:p>
            <a:pPr fontAlgn="auto">
              <a:defRPr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6466" y="5985485"/>
            <a:ext cx="828185" cy="8725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62A874-4485-00EE-5A3B-7EAE6381A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Components Used :</a:t>
            </a:r>
            <a:endParaRPr lang="en-IN" b="1" dirty="0"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D69BF6-2FD7-D247-FB6E-3C09154BC33D}"/>
              </a:ext>
            </a:extLst>
          </p:cNvPr>
          <p:cNvSpPr txBox="1"/>
          <p:nvPr/>
        </p:nvSpPr>
        <p:spPr>
          <a:xfrm>
            <a:off x="477520" y="2136339"/>
            <a:ext cx="8666480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+mn-lt"/>
                <a:cs typeface="Arial" panose="020B0604020202020204" pitchFamily="34" charset="0"/>
              </a:rPr>
              <a:t>ESP32</a:t>
            </a:r>
          </a:p>
          <a:p>
            <a:pPr marL="342900" indent="-342900" algn="just" fontAlgn="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+mn-lt"/>
                <a:cs typeface="Arial" panose="020B0604020202020204" pitchFamily="34" charset="0"/>
              </a:rPr>
              <a:t>Humidity Sensor </a:t>
            </a:r>
          </a:p>
          <a:p>
            <a:pPr marL="342900" indent="-342900" algn="just" fontAlgn="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+mn-lt"/>
                <a:cs typeface="Arial" panose="020B0604020202020204" pitchFamily="34" charset="0"/>
              </a:rPr>
              <a:t>DHT11 Sensor</a:t>
            </a:r>
            <a:endParaRPr lang="en-IN" dirty="0">
              <a:latin typeface="+mn-lt"/>
              <a:cs typeface="Arial" panose="020B0604020202020204" pitchFamily="34" charset="0"/>
            </a:endParaRPr>
          </a:p>
          <a:p>
            <a:pPr marL="342900" indent="-342900" algn="just" fontAlgn="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+mn-lt"/>
                <a:cs typeface="Arial" panose="020B0604020202020204" pitchFamily="34" charset="0"/>
              </a:rPr>
              <a:t>MQ Sensor (CO2)</a:t>
            </a:r>
            <a:endParaRPr lang="en-IN" dirty="0">
              <a:latin typeface="+mn-lt"/>
              <a:cs typeface="Arial" panose="020B0604020202020204" pitchFamily="34" charset="0"/>
            </a:endParaRPr>
          </a:p>
          <a:p>
            <a:pPr marL="342900" indent="-342900" algn="just" fontAlgn="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+mn-lt"/>
                <a:cs typeface="Arial" panose="020B0604020202020204" pitchFamily="34" charset="0"/>
              </a:rPr>
              <a:t>Dust Particles Sensor </a:t>
            </a:r>
            <a:endParaRPr lang="en-IN" dirty="0">
              <a:latin typeface="+mn-lt"/>
              <a:cs typeface="Arial" panose="020B0604020202020204" pitchFamily="34" charset="0"/>
            </a:endParaRPr>
          </a:p>
          <a:p>
            <a:pPr marL="342900" indent="-342900" algn="just" fontAlgn="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+mn-lt"/>
                <a:cs typeface="Arial" panose="020B0604020202020204" pitchFamily="34" charset="0"/>
              </a:rPr>
              <a:t>16×2 LCD Display (4-Bit Mode)</a:t>
            </a:r>
          </a:p>
          <a:p>
            <a:pPr marL="342900" indent="-342900" algn="just" fontAlgn="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+mn-lt"/>
                <a:cs typeface="Arial" panose="020B0604020202020204" pitchFamily="34" charset="0"/>
              </a:rPr>
              <a:t>ACP &amp; MDF Sheet  </a:t>
            </a:r>
            <a:endParaRPr lang="en-IN" dirty="0"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2E534-52A1-A2D2-5D07-3581F631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Working :</a:t>
            </a:r>
            <a:endParaRPr lang="en-IN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CD6721-E581-B247-06C0-56BDCCD52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06880"/>
            <a:ext cx="9596120" cy="477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531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9019A-00B1-5E87-011F-00B4C499A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cs typeface="Times New Roman" panose="02020603050405020304" pitchFamily="18" charset="0"/>
              </a:rPr>
              <a:t>Conclusion :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3E54C-8D21-13D1-C67D-EF2DF8404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361" y="1825624"/>
            <a:ext cx="10149840" cy="4697095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chemeClr val="tx1"/>
                </a:solidFill>
              </a:rPr>
              <a:t>• ESP32-based systems provide a low-cost and efficient solution.</a:t>
            </a:r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chemeClr val="tx1"/>
                </a:solidFill>
              </a:rPr>
              <a:t>• Suitable for educational, residential and small industrial use.</a:t>
            </a:r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chemeClr val="tx1"/>
                </a:solidFill>
              </a:rPr>
              <a:t>• Enables real-time monitoring of environmental parameters.</a:t>
            </a:r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chemeClr val="tx1"/>
                </a:solidFill>
              </a:rPr>
              <a:t>• Future improvements can include: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– IoT integration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– Better sensors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– Wireless communication</a:t>
            </a:r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chemeClr val="tx1"/>
                </a:solidFill>
              </a:rPr>
              <a:t>These systems have strong potential for smart environmental monitoring solutions.</a:t>
            </a:r>
          </a:p>
          <a:p>
            <a:pPr>
              <a:lnSpc>
                <a:spcPct val="16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5258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7371B-2D8D-45A8-112A-E0993A757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 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0AB07-869B-59BB-8E0F-FBE1AC43A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9941559" cy="4351338"/>
          </a:xfrm>
        </p:spPr>
        <p:txBody>
          <a:bodyPr>
            <a:noAutofit/>
          </a:bodyPr>
          <a:lstStyle/>
          <a:p>
            <a:pPr algn="just"/>
            <a:r>
              <a:rPr lang="en-IN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V. A. A. Manimozhi et al., "Smart environmental monitoring system using LabVIEW," IJIRSET, 2017.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E. Gertz and P. Di Justo, Environmental Monitoring with ESP , O’Reilly Media, 2012.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K. A. Noordin et al., "Low-cost microcontroller-based weather monitoring system," IEEE, 2006.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S. Choudhury et al., "ZigBee and Bluetooth based sensory data acquisition," Procedia Computer Science, 2015.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F. Sheikh and L. </a:t>
            </a:r>
            <a:r>
              <a:rPr lang="en-IN" sz="18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Xinrong</a:t>
            </a:r>
            <a:r>
              <a:rPr lang="en-IN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"Wireless sensor network for environmental monitoring," Procedia Computer Science, 2014.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solidFill>
                  <a:schemeClr val="tx1"/>
                </a:solidFill>
              </a:rPr>
              <a:t> </a:t>
            </a:r>
          </a:p>
          <a:p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221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7738" y="2401888"/>
            <a:ext cx="5859462" cy="2187575"/>
          </a:xfrm>
        </p:spPr>
        <p:txBody>
          <a:bodyPr rtlCol="0"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5400" b="1" dirty="0"/>
              <a:t>THANK YOU</a:t>
            </a:r>
          </a:p>
        </p:txBody>
      </p:sp>
      <p:sp>
        <p:nvSpPr>
          <p:cNvPr id="8" name="Freeform 7">
            <a:hlinkClick r:id="rId3" tooltip="Learn More"/>
          </p:cNvPr>
          <p:cNvSpPr/>
          <p:nvPr/>
        </p:nvSpPr>
        <p:spPr>
          <a:xfrm>
            <a:off x="11557000" y="6134100"/>
            <a:ext cx="431800" cy="431800"/>
          </a:xfrm>
          <a:custGeom>
            <a:avLst/>
            <a:gdLst>
              <a:gd name="connsiteX0" fmla="*/ 283692 w 643468"/>
              <a:gd name="connsiteY0" fmla="*/ 156886 h 643468"/>
              <a:gd name="connsiteX1" fmla="*/ 315574 w 643468"/>
              <a:gd name="connsiteY1" fmla="*/ 156886 h 643468"/>
              <a:gd name="connsiteX2" fmla="*/ 486582 w 643468"/>
              <a:gd name="connsiteY2" fmla="*/ 321734 h 643468"/>
              <a:gd name="connsiteX3" fmla="*/ 315574 w 643468"/>
              <a:gd name="connsiteY3" fmla="*/ 486582 h 643468"/>
              <a:gd name="connsiteX4" fmla="*/ 283692 w 643468"/>
              <a:gd name="connsiteY4" fmla="*/ 486582 h 643468"/>
              <a:gd name="connsiteX5" fmla="*/ 441545 w 643468"/>
              <a:gd name="connsiteY5" fmla="*/ 334415 h 643468"/>
              <a:gd name="connsiteX6" fmla="*/ 156887 w 643468"/>
              <a:gd name="connsiteY6" fmla="*/ 334415 h 643468"/>
              <a:gd name="connsiteX7" fmla="*/ 156887 w 643468"/>
              <a:gd name="connsiteY7" fmla="*/ 309054 h 643468"/>
              <a:gd name="connsiteX8" fmla="*/ 441545 w 643468"/>
              <a:gd name="connsiteY8" fmla="*/ 309054 h 643468"/>
              <a:gd name="connsiteX9" fmla="*/ 321733 w 643468"/>
              <a:gd name="connsiteY9" fmla="*/ 16937 h 643468"/>
              <a:gd name="connsiteX10" fmla="*/ 16936 w 643468"/>
              <a:gd name="connsiteY10" fmla="*/ 321734 h 643468"/>
              <a:gd name="connsiteX11" fmla="*/ 321733 w 643468"/>
              <a:gd name="connsiteY11" fmla="*/ 626531 h 643468"/>
              <a:gd name="connsiteX12" fmla="*/ 626530 w 643468"/>
              <a:gd name="connsiteY12" fmla="*/ 321734 h 643468"/>
              <a:gd name="connsiteX13" fmla="*/ 321733 w 643468"/>
              <a:gd name="connsiteY13" fmla="*/ 16937 h 643468"/>
              <a:gd name="connsiteX14" fmla="*/ 321734 w 643468"/>
              <a:gd name="connsiteY14" fmla="*/ 0 h 643468"/>
              <a:gd name="connsiteX15" fmla="*/ 643468 w 643468"/>
              <a:gd name="connsiteY15" fmla="*/ 321734 h 643468"/>
              <a:gd name="connsiteX16" fmla="*/ 321734 w 643468"/>
              <a:gd name="connsiteY16" fmla="*/ 643468 h 643468"/>
              <a:gd name="connsiteX17" fmla="*/ 0 w 643468"/>
              <a:gd name="connsiteY17" fmla="*/ 321734 h 643468"/>
              <a:gd name="connsiteX18" fmla="*/ 321734 w 643468"/>
              <a:gd name="connsiteY18" fmla="*/ 0 h 643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3468" h="643468">
                <a:moveTo>
                  <a:pt x="283692" y="156886"/>
                </a:moveTo>
                <a:lnTo>
                  <a:pt x="315574" y="156886"/>
                </a:lnTo>
                <a:lnTo>
                  <a:pt x="486582" y="321734"/>
                </a:lnTo>
                <a:lnTo>
                  <a:pt x="315574" y="486582"/>
                </a:lnTo>
                <a:lnTo>
                  <a:pt x="283692" y="486582"/>
                </a:lnTo>
                <a:lnTo>
                  <a:pt x="441545" y="334415"/>
                </a:lnTo>
                <a:lnTo>
                  <a:pt x="156887" y="334415"/>
                </a:lnTo>
                <a:lnTo>
                  <a:pt x="156887" y="309054"/>
                </a:lnTo>
                <a:lnTo>
                  <a:pt x="441545" y="309054"/>
                </a:lnTo>
                <a:close/>
                <a:moveTo>
                  <a:pt x="321733" y="16937"/>
                </a:moveTo>
                <a:cubicBezTo>
                  <a:pt x="153398" y="16937"/>
                  <a:pt x="16936" y="153399"/>
                  <a:pt x="16936" y="321734"/>
                </a:cubicBezTo>
                <a:cubicBezTo>
                  <a:pt x="16936" y="490069"/>
                  <a:pt x="153398" y="626531"/>
                  <a:pt x="321733" y="626531"/>
                </a:cubicBezTo>
                <a:cubicBezTo>
                  <a:pt x="490068" y="626531"/>
                  <a:pt x="626530" y="490069"/>
                  <a:pt x="626530" y="321734"/>
                </a:cubicBezTo>
                <a:cubicBezTo>
                  <a:pt x="626530" y="153399"/>
                  <a:pt x="490068" y="16937"/>
                  <a:pt x="321733" y="16937"/>
                </a:cubicBezTo>
                <a:close/>
                <a:moveTo>
                  <a:pt x="321734" y="0"/>
                </a:moveTo>
                <a:cubicBezTo>
                  <a:pt x="499423" y="0"/>
                  <a:pt x="643468" y="144045"/>
                  <a:pt x="643468" y="321734"/>
                </a:cubicBezTo>
                <a:cubicBezTo>
                  <a:pt x="643468" y="499423"/>
                  <a:pt x="499423" y="643468"/>
                  <a:pt x="321734" y="643468"/>
                </a:cubicBezTo>
                <a:cubicBezTo>
                  <a:pt x="144045" y="643468"/>
                  <a:pt x="0" y="499423"/>
                  <a:pt x="0" y="321734"/>
                </a:cubicBezTo>
                <a:cubicBezTo>
                  <a:pt x="0" y="144045"/>
                  <a:pt x="144045" y="0"/>
                  <a:pt x="321734" y="0"/>
                </a:cubicBezTo>
                <a:close/>
              </a:path>
            </a:pathLst>
          </a:cu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5604" name="Text Placeholder 2">
            <a:hlinkClick r:id="rId3" tooltip="Learn More"/>
          </p:cNvPr>
          <p:cNvSpPr txBox="1">
            <a:spLocks/>
          </p:cNvSpPr>
          <p:nvPr/>
        </p:nvSpPr>
        <p:spPr bwMode="auto">
          <a:xfrm>
            <a:off x="2897188" y="5845175"/>
            <a:ext cx="8659812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algn="r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800">
                <a:solidFill>
                  <a:srgbClr val="DD462F"/>
                </a:solidFill>
                <a:latin typeface="Segoe UI Light" panose="020B0502040204020203" pitchFamily="34" charset="0"/>
              </a:rPr>
              <a:t>Find out more at the PowerPoint Getting Started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66022" y="6477369"/>
            <a:ext cx="2963979" cy="298665"/>
          </a:xfrm>
          <a:prstGeom prst="rect">
            <a:avLst/>
          </a:prstGeom>
          <a:noFill/>
        </p:spPr>
        <p:txBody>
          <a:bodyPr wrap="none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24726">
                    <a:alpha val="37000"/>
                  </a:srgbClr>
                </a:solidFill>
                <a:latin typeface="+mn-lt"/>
              </a:rPr>
              <a:t>(Click the arrow when in Slide Show mode)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24726">
                  <a:alpha val="37000"/>
                </a:srgbClr>
              </a:solidFill>
              <a:latin typeface="+mn-lt"/>
            </a:endParaRP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 xsi:nil="true"/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843282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 xsi:nil="true"/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 xmlns="4873beb7-5857-4685-be1f-d57550cc96cc">1584528</Value>
    </PublishStatusLookup>
    <APAuthor xmlns="4873beb7-5857-4685-be1f-d57550cc96cc">
      <UserInfo xmlns="4873beb7-5857-4685-be1f-d57550cc96cc">
        <DisplayName xmlns="4873beb7-5857-4685-be1f-d57550cc96cc">REDMOND\v-sa</DisplayName>
        <AccountId xmlns="4873beb7-5857-4685-be1f-d57550cc96cc">2467</AccountId>
        <AccountType xmlns="4873beb7-5857-4685-be1f-d57550cc96cc"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Template - Slideshow Launch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TP102923943</AssetId>
    <TPClientViewer xmlns="4873beb7-5857-4685-be1f-d57550cc96cc" xsi:nil="true"/>
    <DSATActionTaken xmlns="4873beb7-5857-4685-be1f-d57550cc96cc" xsi:nil="true"/>
    <APEditor xmlns="4873beb7-5857-4685-be1f-d57550cc96cc">
      <UserInfo xmlns="4873beb7-5857-4685-be1f-d57550cc96cc">
        <DisplayName xmlns="4873beb7-5857-4685-be1f-d57550cc96cc"/>
        <AccountId xmlns="4873beb7-5857-4685-be1f-d57550cc96cc" xsi:nil="true"/>
        <AccountType xmlns="4873beb7-5857-4685-be1f-d57550cc96cc"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C3C768-403A-450D-B414-518F6744E805}">
  <ds:schemaRefs>
    <ds:schemaRef ds:uri="http://schemas.microsoft.com/office/2006/metadata/properties"/>
    <ds:schemaRef ds:uri="http://www.w3.org/2000/xmlns/"/>
    <ds:schemaRef ds:uri="4873beb7-5857-4685-be1f-d57550cc96cc"/>
    <ds:schemaRef ds:uri="http://www.w3.org/2001/XMLSchema-instance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3EE7759-C66F-4EA4-9863-7EBA32518D3D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873beb7-5857-4685-be1f-d57550cc96cc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 2013</Template>
  <TotalTime>285</TotalTime>
  <Words>718</Words>
  <Application>Microsoft Office PowerPoint</Application>
  <PresentationFormat>Widescreen</PresentationFormat>
  <Paragraphs>80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Segoe UI</vt:lpstr>
      <vt:lpstr>Segoe UI Light</vt:lpstr>
      <vt:lpstr>Times New Roman</vt:lpstr>
      <vt:lpstr>WelcomeDoc</vt:lpstr>
      <vt:lpstr>PowerPoint Presentation</vt:lpstr>
      <vt:lpstr>Content :</vt:lpstr>
      <vt:lpstr>Abstract :</vt:lpstr>
      <vt:lpstr>Introduction :</vt:lpstr>
      <vt:lpstr>Problem Statement :</vt:lpstr>
      <vt:lpstr>Proposed Solution :</vt:lpstr>
      <vt:lpstr>                       System Architecture  :</vt:lpstr>
      <vt:lpstr>Components Used :</vt:lpstr>
      <vt:lpstr>Working :</vt:lpstr>
      <vt:lpstr>Conclusion : </vt:lpstr>
      <vt:lpstr>References :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Title: ______________________________________________</dc:title>
  <dc:creator>CP LAB</dc:creator>
  <cp:keywords/>
  <cp:lastModifiedBy>Avantika Yerawar</cp:lastModifiedBy>
  <cp:revision>65</cp:revision>
  <dcterms:created xsi:type="dcterms:W3CDTF">2026-01-20T11:32:44Z</dcterms:created>
  <dcterms:modified xsi:type="dcterms:W3CDTF">2026-03-23T12:35:48Z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_TemplateID">
    <vt:lpwstr>TC029239449991</vt:lpwstr>
  </property>
  <property fmtid="{D5CDD505-2E9C-101B-9397-08002B2CF9AE}" pid="4" name="ContentTypeId">
    <vt:lpwstr>0x0101006EDDDB5EE6D98C44930B742096920B300400F5B6D36B3EF94B4E9A635CDF2A18F5B8</vt:lpwstr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ScenarioTags">
    <vt:lpwstr/>
  </property>
  <property fmtid="{D5CDD505-2E9C-101B-9397-08002B2CF9AE}" pid="8" name="CampaignTags">
    <vt:lpwstr/>
  </property>
</Properties>
</file>