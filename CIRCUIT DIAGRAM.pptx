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88" r:id="rId2"/>
    <p:sldId id="269" r:id="rId3"/>
    <p:sldId id="270" r:id="rId4"/>
    <p:sldId id="271" r:id="rId5"/>
    <p:sldId id="27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9049C8-186F-47BE-AEEC-0898A10EF276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B7CA61-9AC9-4E50-9E55-415E71A2D9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42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c743c611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9" name="Google Shape;229;g3dc743c611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dc743c6116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6" name="Google Shape;236;g3dc743c6116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dc743c6116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2" name="Google Shape;242;g3dc743c6116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dc8a084242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7" name="Google Shape;277;g3dc8a08424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80EE-DB54-A6C8-B215-41B4ACBB2B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CB6419-6F3C-051A-4271-C8D2222319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D1DB7-D4A8-9D30-2E1E-C2960D28E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50EE5-EB54-4D08-90E4-12FB49923588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5D33F-072B-A199-83C8-57F78303D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958E7-E74C-B3E7-2ABA-6607A6EC7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DD1C-A41E-414A-B607-E2D99D765A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7530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FCEDB-1B64-A12F-5FAD-AA33EFA0A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FB7DF-C104-A296-FEA2-E5EFD1423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8EB78-0D20-2589-628A-FC1DB5B4B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50EE5-EB54-4D08-90E4-12FB49923588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F2A43-1CEB-6846-611C-69752C624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70661-1624-41CB-7135-3CCD42A29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DD1C-A41E-414A-B607-E2D99D765A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6824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A1BD7-F78A-4C9A-0EB8-5EF28E4F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788A09-B188-FE5A-ADA4-4C376ED44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7D597-28E6-B494-2FA5-F6200A46C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50EE5-EB54-4D08-90E4-12FB49923588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07BCC-D8D0-A0F3-D2A9-F718CB9EB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FF027-1D4D-5AF3-BC17-0DE2C3C06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DD1C-A41E-414A-B607-E2D99D765A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666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E6E63-6DE6-11BD-4882-A832971E1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5BD2E-C963-379D-99F4-E24649E5A6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B7392-22D1-8553-7996-13AB11818D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BABF34-9A2F-F81A-B803-A18AE7671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50EE5-EB54-4D08-90E4-12FB49923588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F9BB2A-466C-51B2-AAB9-55F379302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63437A-0B5E-296F-0548-A1E5DD4E5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DD1C-A41E-414A-B607-E2D99D765A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34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E1BD3-40AC-F151-455A-817844607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E3B9E4-A093-BE01-7D73-EF2F31E5B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5C13D9-7683-97AC-328A-74AC44A9A2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29F788-6158-3F07-BFD8-C17F3D0E6B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1DCCA0-3093-616A-F39A-49107C6AD6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C6BD46-5C68-AD3B-2787-469ED5D60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50EE5-EB54-4D08-90E4-12FB49923588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D0E629-8398-D0FD-A2EE-EFC4D0EA1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92F04F-4A02-1035-B97E-48AA74D1D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DD1C-A41E-414A-B607-E2D99D765A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37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37908-E68C-2B1F-6431-59F498407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A87383-0EE3-B033-4865-A798C5912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50EE5-EB54-4D08-90E4-12FB49923588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A687CF-F804-3E92-A0EF-7EA0FBEF0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E1C73C-6D9B-9656-E260-1C0CFF6C7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DD1C-A41E-414A-B607-E2D99D765A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695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538BF1-D12D-68EB-317B-30FD1CDBE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50EE5-EB54-4D08-90E4-12FB49923588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C1ABB4-7D85-4C57-BC72-C75CE23C3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EB03C-1593-622F-68C2-1CCDDD313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DD1C-A41E-414A-B607-E2D99D765A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896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6B340-ED24-3C98-0168-2FEF1E12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0F10C-7BC0-8916-57D0-450F49C36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2F3A5C-31BC-E4E5-EDA8-437DF3465E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40184D-983A-D743-FDEA-A39E9F504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50EE5-EB54-4D08-90E4-12FB49923588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9C513E-E67E-D396-0D97-057A6810C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393E41-AA49-E0DA-4E6F-47E34D958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DD1C-A41E-414A-B607-E2D99D765A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63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F1530-0BC0-B5D3-F94B-3E13A0C98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330A1F-8456-927D-86C2-838E20451D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A62E1C-F42B-BC9D-FCF8-D8C3A0C56A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B750A1-8E13-4682-A9B0-69977BB7F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50EE5-EB54-4D08-90E4-12FB49923588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3BD48A-4EBA-6E1F-947B-796875713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8E42AD-F50F-2334-28CC-3054BED92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DD1C-A41E-414A-B607-E2D99D765A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856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F4EF0-A8A0-ED54-C436-6877A49C6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AB0FC1-C9AD-8460-94A8-410E812CDE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6D2300-956E-FD2D-4713-7BA106362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50EE5-EB54-4D08-90E4-12FB49923588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C27BE-1702-A90D-4648-F5ED74663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42E9C-258D-7CEF-5822-3E61E7DF5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DD1C-A41E-414A-B607-E2D99D765A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8782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923B25-C88C-C56B-E762-9C43E3A263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5D4A6-F88A-CEAE-6C71-A4035C01F5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1BBD2-081B-9807-3B59-C1656317C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50EE5-EB54-4D08-90E4-12FB49923588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5FB05-1275-B0BC-3D50-7BF788FEE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111A3-2B2A-9EFC-8F9D-169155B57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DD1C-A41E-414A-B607-E2D99D765A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51306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635758" y="424062"/>
            <a:ext cx="9103524" cy="967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  <a:defRPr sz="4800">
                <a:solidFill>
                  <a:srgbClr val="0070C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body" idx="1"/>
          </p:nvPr>
        </p:nvSpPr>
        <p:spPr>
          <a:xfrm>
            <a:off x="629265" y="1425678"/>
            <a:ext cx="9134167" cy="4825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541853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3733">
                <a:solidFill>
                  <a:schemeClr val="dk1"/>
                </a:solidFill>
              </a:defRPr>
            </a:lvl1pPr>
            <a:lvl2pPr marL="1219170" lvl="1" indent="-541853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828754" lvl="2" indent="-507987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2438339" lvl="3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3047924" lvl="4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77249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4FEC06-1BE4-DA16-0CE2-51C07D9E1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8A17CA-7340-40A1-2305-B48AA92834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CAF4D-0A3A-CA99-CC3E-4152340071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50EE5-EB54-4D08-90E4-12FB49923588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F6076-EC53-5F83-EE9C-4A6CE832DF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BEC6A-DC3A-70C3-185F-E07995DF26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AEDD1C-A41E-414A-B607-E2D99D765A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4141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53F43-E35D-4662-DEEB-2F78C53F6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DIAGRAM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1F1C5C-CFFF-961D-D24C-FF0EC39B96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77C8F6-B1F8-87B4-DCDB-39FCFFA11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64" y="1391195"/>
            <a:ext cx="10339525" cy="5374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948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0"/>
          <p:cNvSpPr txBox="1">
            <a:spLocks noGrp="1"/>
          </p:cNvSpPr>
          <p:nvPr>
            <p:ph type="title"/>
          </p:nvPr>
        </p:nvSpPr>
        <p:spPr>
          <a:xfrm>
            <a:off x="635757" y="424061"/>
            <a:ext cx="9103600" cy="96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pPr>
              <a:buClr>
                <a:srgbClr val="C4BD97"/>
              </a:buClr>
            </a:pPr>
            <a:r>
              <a:rPr lang="en" sz="3200" b="1">
                <a:latin typeface="Times New Roman"/>
                <a:ea typeface="Times New Roman"/>
                <a:cs typeface="Times New Roman"/>
                <a:sym typeface="Times New Roman"/>
              </a:rPr>
              <a:t>ESP32 MICROCONTROLLER</a:t>
            </a:r>
            <a:endParaRPr sz="32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40"/>
          <p:cNvSpPr/>
          <p:nvPr/>
        </p:nvSpPr>
        <p:spPr>
          <a:xfrm>
            <a:off x="723733" y="2053333"/>
            <a:ext cx="6157600" cy="4502000"/>
          </a:xfrm>
          <a:prstGeom prst="roundRect">
            <a:avLst>
              <a:gd name="adj" fmla="val 16667"/>
            </a:avLst>
          </a:prstGeom>
          <a:solidFill>
            <a:srgbClr val="EEECE1"/>
          </a:solidFill>
          <a:ln w="9525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609585" indent="-406390" algn="just">
              <a:lnSpc>
                <a:spcPct val="150000"/>
              </a:lnSpc>
              <a:buSzPts val="1200"/>
              <a:buFont typeface="Times New Roman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The NodeMCU ESP32 board is a versatile development platform widely used in IoT (Internet of Things) projects.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9585" indent="-406390" algn="just">
              <a:lnSpc>
                <a:spcPct val="150000"/>
              </a:lnSpc>
              <a:spcBef>
                <a:spcPts val="1333"/>
              </a:spcBef>
              <a:buSzPts val="1200"/>
              <a:buFont typeface="Times New Roman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It integrates the ESP32 microcontroller, which features dual-core processing, Bluetooth, Wi-Fi connectivity, and ample GPIO pins.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9585" indent="-406390" algn="just">
              <a:lnSpc>
                <a:spcPct val="150000"/>
              </a:lnSpc>
              <a:spcBef>
                <a:spcPts val="1333"/>
              </a:spcBef>
              <a:spcAft>
                <a:spcPts val="1333"/>
              </a:spcAft>
              <a:buSzPts val="1200"/>
              <a:buFont typeface="Times New Roman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The board supports a variety of programming environments including Arduino IDE and MicroPython, making it accessible for both beginners and experienced developers.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3" name="Google Shape;23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0434" y="2299184"/>
            <a:ext cx="3998900" cy="4010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1"/>
          <p:cNvSpPr txBox="1">
            <a:spLocks noGrp="1"/>
          </p:cNvSpPr>
          <p:nvPr>
            <p:ph type="title"/>
          </p:nvPr>
        </p:nvSpPr>
        <p:spPr>
          <a:xfrm>
            <a:off x="635757" y="424061"/>
            <a:ext cx="9103600" cy="96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pPr>
              <a:buClr>
                <a:srgbClr val="C4BD97"/>
              </a:buClr>
            </a:pPr>
            <a:r>
              <a:rPr lang="en" sz="3200" b="1">
                <a:latin typeface="Times New Roman"/>
                <a:ea typeface="Times New Roman"/>
                <a:cs typeface="Times New Roman"/>
                <a:sym typeface="Times New Roman"/>
              </a:rPr>
              <a:t>ESP32 FEATURES</a:t>
            </a:r>
            <a:endParaRPr sz="32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41"/>
          <p:cNvSpPr txBox="1"/>
          <p:nvPr/>
        </p:nvSpPr>
        <p:spPr>
          <a:xfrm>
            <a:off x="598600" y="1748901"/>
            <a:ext cx="10120000" cy="4534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06390">
              <a:lnSpc>
                <a:spcPct val="150000"/>
              </a:lnSpc>
              <a:buClr>
                <a:schemeClr val="dk1"/>
              </a:buClr>
              <a:buSzPts val="1200"/>
              <a:buFont typeface="Times New Roman"/>
              <a:buChar char="❖"/>
            </a:pPr>
            <a:r>
              <a:rPr lang="e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NodeMCU based on ESP-WROOM-32 module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9585" indent="-406390">
              <a:lnSpc>
                <a:spcPct val="150000"/>
              </a:lnSpc>
              <a:spcBef>
                <a:spcPts val="1333"/>
              </a:spcBef>
              <a:buClr>
                <a:schemeClr val="dk1"/>
              </a:buClr>
              <a:buSzPts val="1200"/>
              <a:buFont typeface="Times New Roman"/>
              <a:buChar char="❖"/>
            </a:pPr>
            <a:r>
              <a:rPr lang="e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 GPIO Version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9585" indent="-406390">
              <a:lnSpc>
                <a:spcPct val="150000"/>
              </a:lnSpc>
              <a:spcBef>
                <a:spcPts val="1333"/>
              </a:spcBef>
              <a:buClr>
                <a:schemeClr val="dk1"/>
              </a:buClr>
              <a:buSzPts val="1200"/>
              <a:buFont typeface="Times New Roman"/>
              <a:buChar char="❖"/>
            </a:pPr>
            <a:r>
              <a:rPr lang="e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ESP32 is a dual-core 32-bit processor with built-in 2.4 GHz Wi-Fi and Bluetooth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9585" indent="-406390">
              <a:lnSpc>
                <a:spcPct val="150000"/>
              </a:lnSpc>
              <a:spcBef>
                <a:spcPts val="1333"/>
              </a:spcBef>
              <a:buClr>
                <a:schemeClr val="dk1"/>
              </a:buClr>
              <a:buSzPts val="1200"/>
              <a:buFont typeface="Times New Roman"/>
              <a:buChar char="❖"/>
            </a:pPr>
            <a:r>
              <a:rPr lang="e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MByte flash memory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9585" indent="-406390">
              <a:lnSpc>
                <a:spcPct val="150000"/>
              </a:lnSpc>
              <a:spcBef>
                <a:spcPts val="1333"/>
              </a:spcBef>
              <a:buClr>
                <a:schemeClr val="dk1"/>
              </a:buClr>
              <a:buSzPts val="1200"/>
              <a:buFont typeface="Times New Roman"/>
              <a:buChar char="❖"/>
            </a:pPr>
            <a:r>
              <a:rPr lang="e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520 KByte SRAM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9585" indent="-406390">
              <a:lnSpc>
                <a:spcPct val="150000"/>
              </a:lnSpc>
              <a:spcBef>
                <a:spcPts val="1333"/>
              </a:spcBef>
              <a:buClr>
                <a:schemeClr val="dk1"/>
              </a:buClr>
              <a:buSzPts val="1200"/>
              <a:buFont typeface="Times New Roman"/>
              <a:buChar char="❖"/>
            </a:pPr>
            <a:r>
              <a:rPr lang="e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2.2 to 3.6V Operating voltage range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9585" indent="-406390">
              <a:lnSpc>
                <a:spcPct val="150000"/>
              </a:lnSpc>
              <a:spcBef>
                <a:spcPts val="1333"/>
              </a:spcBef>
              <a:buClr>
                <a:schemeClr val="dk1"/>
              </a:buClr>
              <a:buSzPts val="1200"/>
              <a:buFont typeface="Times New Roman"/>
              <a:buChar char="❖"/>
            </a:pPr>
            <a:r>
              <a:rPr lang="e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breadboard-friendly breakout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9585" indent="-406390">
              <a:lnSpc>
                <a:spcPct val="150000"/>
              </a:lnSpc>
              <a:spcBef>
                <a:spcPts val="1333"/>
              </a:spcBef>
              <a:spcAft>
                <a:spcPts val="1333"/>
              </a:spcAft>
              <a:buClr>
                <a:schemeClr val="dk1"/>
              </a:buClr>
              <a:buSzPts val="1200"/>
              <a:buFont typeface="Times New Roman"/>
              <a:buChar char="❖"/>
            </a:pPr>
            <a:r>
              <a:rPr lang="e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USB micro B for power and Serial communication used to load the program and serial debugging too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318" y="428368"/>
            <a:ext cx="10050164" cy="555779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42"/>
          <p:cNvSpPr txBox="1"/>
          <p:nvPr/>
        </p:nvSpPr>
        <p:spPr>
          <a:xfrm>
            <a:off x="3917133" y="6231867"/>
            <a:ext cx="4000000" cy="53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1867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ESP32 PINOUT</a:t>
            </a:r>
            <a:endParaRPr sz="1333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7"/>
          <p:cNvSpPr txBox="1">
            <a:spLocks noGrp="1"/>
          </p:cNvSpPr>
          <p:nvPr>
            <p:ph type="title"/>
          </p:nvPr>
        </p:nvSpPr>
        <p:spPr>
          <a:xfrm>
            <a:off x="629257" y="291761"/>
            <a:ext cx="9103600" cy="96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b" anchorCtr="0">
            <a:normAutofit/>
          </a:bodyPr>
          <a:lstStyle/>
          <a:p>
            <a:pPr>
              <a:buClr>
                <a:schemeClr val="lt1"/>
              </a:buClr>
              <a:buSzPts val="2100"/>
            </a:pPr>
            <a:r>
              <a:rPr lang="en" sz="3200" b="1">
                <a:latin typeface="Times New Roman"/>
                <a:ea typeface="Times New Roman"/>
                <a:cs typeface="Times New Roman"/>
                <a:sym typeface="Times New Roman"/>
              </a:rPr>
              <a:t>ARDUINO IDE PROGRAMMING SOFTWARE</a:t>
            </a:r>
            <a:endParaRPr sz="32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47"/>
          <p:cNvSpPr txBox="1">
            <a:spLocks noGrp="1"/>
          </p:cNvSpPr>
          <p:nvPr>
            <p:ph type="body" idx="1"/>
          </p:nvPr>
        </p:nvSpPr>
        <p:spPr>
          <a:xfrm>
            <a:off x="629265" y="1425667"/>
            <a:ext cx="6819600" cy="4825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/>
          </a:bodyPr>
          <a:lstStyle/>
          <a:p>
            <a:pPr marL="304792" indent="-304792" algn="just">
              <a:lnSpc>
                <a:spcPct val="150000"/>
              </a:lnSpc>
              <a:spcBef>
                <a:spcPts val="0"/>
              </a:spcBef>
              <a:buSzPts val="1200"/>
              <a:buFont typeface="Times New Roman"/>
              <a:buChar char="◼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The Arduino Integrated Development Environment (IDE) is a cross-platform application (for Windows, macOS, Linux) that is written in functions from C and C++. It is used to write and upload programs to Arduino compatible boards, but also, with the help of third-party cores, other vendor development boards.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04792" indent="-304792" algn="just">
              <a:lnSpc>
                <a:spcPct val="150000"/>
              </a:lnSpc>
              <a:spcBef>
                <a:spcPts val="933"/>
              </a:spcBef>
              <a:buSzPts val="1200"/>
              <a:buFont typeface="Times New Roman"/>
              <a:buChar char="◼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 Arduino code is written in C++ with an addition of special methods and functions, which we'll mention later on. C++ is a human-readable programming language. When you create a 'sketch' (the name given to Arduino code files), it is processed and compiled to machine language.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1" name="Google Shape;281;p47" descr="Introduction to Arduino IDE - The Engineering Project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72377" y="2198816"/>
            <a:ext cx="4310932" cy="4460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244</Words>
  <Application>Microsoft Office PowerPoint</Application>
  <PresentationFormat>Widescreen</PresentationFormat>
  <Paragraphs>18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CIRCUIT DIAGRAM</vt:lpstr>
      <vt:lpstr>ESP32 MICROCONTROLLER</vt:lpstr>
      <vt:lpstr>ESP32 FEATURES</vt:lpstr>
      <vt:lpstr>PowerPoint Presentation</vt:lpstr>
      <vt:lpstr>ARDUINO IDE PROGRAMMING SOFTWARE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pranay jadhao</dc:creator>
  <cp:lastModifiedBy>pranay jadhao</cp:lastModifiedBy>
  <cp:revision>1</cp:revision>
  <dcterms:created xsi:type="dcterms:W3CDTF">2026-04-03T16:14:47Z</dcterms:created>
  <dcterms:modified xsi:type="dcterms:W3CDTF">2026-04-03T16:16:19Z</dcterms:modified>
</cp:coreProperties>
</file>